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10287000" cx="18288000"/>
  <p:notesSz cx="10287000" cy="18288000"/>
  <p:embeddedFontLst>
    <p:embeddedFont>
      <p:font typeface="Archivo"/>
      <p:regular r:id="rId29"/>
      <p:bold r:id="rId30"/>
      <p:italic r:id="rId31"/>
      <p:boldItalic r:id="rId32"/>
    </p:embeddedFont>
    <p:embeddedFont>
      <p:font typeface="IBM Plex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Archiv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Archivo-italic.fntdata"/><Relationship Id="rId30" Type="http://schemas.openxmlformats.org/officeDocument/2006/relationships/font" Target="fonts/Archivo-bold.fntdata"/><Relationship Id="rId11" Type="http://schemas.openxmlformats.org/officeDocument/2006/relationships/slide" Target="slides/slide7.xml"/><Relationship Id="rId33" Type="http://schemas.openxmlformats.org/officeDocument/2006/relationships/font" Target="fonts/IBMPlexMono-regular.fntdata"/><Relationship Id="rId10" Type="http://schemas.openxmlformats.org/officeDocument/2006/relationships/slide" Target="slides/slide6.xml"/><Relationship Id="rId32" Type="http://schemas.openxmlformats.org/officeDocument/2006/relationships/font" Target="fonts/Archivo-boldItalic.fntdata"/><Relationship Id="rId13" Type="http://schemas.openxmlformats.org/officeDocument/2006/relationships/slide" Target="slides/slide9.xml"/><Relationship Id="rId35" Type="http://schemas.openxmlformats.org/officeDocument/2006/relationships/font" Target="fonts/IBMPlexMono-italic.fntdata"/><Relationship Id="rId12" Type="http://schemas.openxmlformats.org/officeDocument/2006/relationships/slide" Target="slides/slide8.xml"/><Relationship Id="rId34" Type="http://schemas.openxmlformats.org/officeDocument/2006/relationships/font" Target="fonts/IBMPlexMono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schemas.openxmlformats.org/officeDocument/2006/relationships/font" Target="fonts/IBMPlexMono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identity, two roles. Waymark is the product the operator uses; Almanac is the engine inside it. This deck is the whole system in one file.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Five traits drive every decision that follows. Guidance, not automation.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chevron moving toward a fixed point: the system suggests a direction, the marker is the decision.</a:t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7-unit gap between chevron tip and point is fixed. It is the pause before a decision and should never close.</a:t>
            </a:r>
            <a:endParaRPr/>
          </a:p>
        </p:txBody>
      </p:sp>
      <p:sp>
        <p:nvSpPr>
          <p:cNvPr id="57" name="Google Shape;5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Clear space equals the diameter of the point on all four sides. On signage, double it. Below 16px, drop to the mark alone.</a:t>
            </a:r>
            <a:endParaRPr/>
          </a:p>
        </p:txBody>
      </p:sp>
      <p:sp>
        <p:nvSpPr>
          <p:cNvPr id="66" name="Google Shape;6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ways the mark will get broken. Rotation, off-ramp colour, distortion, and violet on violet.</a:t>
            </a:r>
            <a:endParaRPr/>
          </a:p>
        </p:txBody>
      </p:sp>
      <p:sp>
        <p:nvSpPr>
          <p:cNvPr id="82" name="Google Shape;8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violet ramp. Ink indigo anchors, royal violet is primary, accent violet handles hover and dark mode, lavender fills quiet surfaces.</a:t>
            </a:r>
            <a:endParaRPr/>
          </a:p>
        </p:txBody>
      </p:sp>
      <p:sp>
        <p:nvSpPr>
          <p:cNvPr id="106" name="Google Shape;10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Paper is the page base: white is reserved for cards, so surfaces stack properly.</a:t>
            </a:r>
            <a:endParaRPr/>
          </a:p>
        </p:txBody>
      </p:sp>
      <p:sp>
        <p:nvSpPr>
          <p:cNvPr id="128" name="Google Shape;12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Cyan sits opposite violet at the same chroma, so insights separate from chrome without warming the brand. Four values, one structure — repeated identically by critical and warning on the next slide.</a:t>
            </a:r>
            <a:endParaRPr/>
          </a:p>
        </p:txBody>
      </p:sp>
      <p:sp>
        <p:nvSpPr>
          <p:cNvPr id="154" name="Google Shape;15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semantic colours, not three. Green collides with cyan, red and green collapse under deuteranopia, and violet is already the confirmation colour.</a:t>
            </a:r>
            <a:endParaRPr/>
          </a:p>
        </p:txBody>
      </p:sp>
      <p:sp>
        <p:nvSpPr>
          <p:cNvPr id="189" name="Google Shape;18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table, one contract. Signal values never carry text; text values never carry fills. And colour never carries the state alone.</a:t>
            </a:r>
            <a:endParaRPr/>
          </a:p>
        </p:txBody>
      </p:sp>
      <p:sp>
        <p:nvSpPr>
          <p:cNvPr id="258" name="Google Shape;25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Archivo for everything readable, IBM Plex Mono for labels, SKUs and quantities. The register split is also the brand split: Archivo is Waymark, Plex Mono is Almanac.</a:t>
            </a:r>
            <a:endParaRPr/>
          </a:p>
        </p:txBody>
      </p:sp>
      <p:sp>
        <p:nvSpPr>
          <p:cNvPr id="298" name="Google Shape;29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identity working in light and dark app chrome. The engine card is white with a cyan top edge in both modes — cyan is never a card fill.</a:t>
            </a:r>
            <a:endParaRPr/>
          </a:p>
        </p:txBody>
      </p:sp>
      <p:sp>
        <p:nvSpPr>
          <p:cNvPr id="317" name="Google Shape;31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mark holds from a 76px app tile down to a 16px favicon without redrawing.</a:t>
            </a:r>
            <a:endParaRPr/>
          </a:p>
        </p:txBody>
      </p:sp>
      <p:sp>
        <p:nvSpPr>
          <p:cNvPr id="388" name="Google Shape;38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Almanac is the intelligence layer inside Waymark. It introduces no new palette and no new fonts — it is a role inside the system, not a second identity.</a:t>
            </a:r>
            <a:endParaRPr/>
          </a:p>
        </p:txBody>
      </p:sp>
      <p:sp>
        <p:nvSpPr>
          <p:cNvPr id="406" name="Google Shape;40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 almanac is a record arranged so a forecast can be read from it, and it was always advisory: the farmer read it, then decided. Same argument as the Waymark mark.</a:t>
            </a:r>
            <a:endParaRPr/>
          </a:p>
        </p:txBody>
      </p:sp>
      <p:sp>
        <p:nvSpPr>
          <p:cNvPr id="418" name="Google Shape;41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Waymark owns the mark, the violet and every button. Almanac owns the cyan, the forecasts, and nothing the user clicks.</a:t>
            </a:r>
            <a:endParaRPr/>
          </a:p>
        </p:txBody>
      </p:sp>
      <p:sp>
        <p:nvSpPr>
          <p:cNvPr id="437" name="Google Shape;43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standalone setting looks like a company name however it is drawn. A lockup that structurally requires the parent word cannot.</a:t>
            </a:r>
            <a:endParaRPr/>
          </a:p>
        </p:txBody>
      </p:sp>
      <p:sp>
        <p:nvSpPr>
          <p:cNvPr id="458" name="Google Shape;45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in-product forms only, all legal only on insight surfaces and consent screens, inside a product already showing the Waymark mark.</a:t>
            </a:r>
            <a:endParaRPr/>
          </a:p>
        </p:txBody>
      </p:sp>
      <p:sp>
        <p:nvSpPr>
          <p:cNvPr id="477" name="Google Shape;47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violet fill made the engine look like it was acting rather than advising, and it inverted the palette so the primary button became the least branded thing on screen.</a:t>
            </a:r>
            <a:endParaRPr/>
          </a:p>
        </p:txBody>
      </p:sp>
      <p:sp>
        <p:nvSpPr>
          <p:cNvPr id="502" name="Google Shape;50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component, one variable: the colour and position of the rule. The label changes with it — the edge alone is never the state.</a:t>
            </a:r>
            <a:endParaRPr/>
          </a:p>
        </p:txBody>
      </p:sp>
      <p:sp>
        <p:nvSpPr>
          <p:cNvPr id="536" name="Google Shape;53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Because block is the identity in practice. A recommendation the operator cannot interrogate is an instruction, and instructions break the promise.</a:t>
            </a:r>
            <a:endParaRPr/>
          </a:p>
        </p:txBody>
      </p:sp>
      <p:sp>
        <p:nvSpPr>
          <p:cNvPr id="584" name="Google Shape;58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rules. The quiet state matters most: an engine that only appears when something is wrong trains people to dread it.</a:t>
            </a:r>
            <a:endParaRPr/>
          </a:p>
        </p:txBody>
      </p:sp>
      <p:sp>
        <p:nvSpPr>
          <p:cNvPr id="616" name="Google Shape;61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Seven lines. Anything beyond them is a second brand you will have to maintain.</a:t>
            </a:r>
            <a:endParaRPr/>
          </a:p>
        </p:txBody>
      </p:sp>
      <p:sp>
        <p:nvSpPr>
          <p:cNvPr id="633" name="Google Shape;63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1E4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439" y="952439"/>
            <a:ext cx="495294" cy="49529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1638149" y="970475"/>
            <a:ext cx="20583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chivo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Waymark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952439" y="4298529"/>
            <a:ext cx="13620715" cy="989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6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chivo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Brand identity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52439" y="5630401"/>
            <a:ext cx="11525230" cy="57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802"/>
              </a:lnSpc>
              <a:spcBef>
                <a:spcPts val="0"/>
              </a:spcBef>
              <a:spcAft>
                <a:spcPts val="0"/>
              </a:spcAft>
              <a:buClr>
                <a:srgbClr val="C6B6EE"/>
              </a:buClr>
              <a:buSzPts val="3000"/>
              <a:buFont typeface="Archivo"/>
              <a:buNone/>
            </a:pPr>
            <a:r>
              <a:rPr b="0" i="0" lang="en-US" sz="3000" u="none" cap="none" strike="noStrike">
                <a:solidFill>
                  <a:srgbClr val="C6B6EE"/>
                </a:solidFill>
                <a:latin typeface="Archivo"/>
                <a:ea typeface="Archivo"/>
                <a:cs typeface="Archivo"/>
                <a:sym typeface="Archivo"/>
              </a:rPr>
              <a:t>The store tells you what it needs. You decide what happens.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52439" y="9014532"/>
            <a:ext cx="7055331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7FD4"/>
              </a:buClr>
              <a:buSzPts val="1950"/>
              <a:buFont typeface="IBM Plex Mono"/>
              <a:buNone/>
            </a:pPr>
            <a:r>
              <a:rPr b="0" i="0" lang="en-US" sz="1950" u="none" cap="none" strike="noStrike">
                <a:solidFill>
                  <a:srgbClr val="9B7FD4"/>
                </a:solidFill>
                <a:latin typeface="IBM Plex Mono"/>
                <a:ea typeface="IBM Plex Mono"/>
                <a:cs typeface="IBM Plex Mono"/>
                <a:sym typeface="IBM Plex Mono"/>
              </a:rPr>
              <a:t>INTELLIGENT RETAIL STORE MANAGEMENT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1837938" y="9014532"/>
            <a:ext cx="6047341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D0CA"/>
              </a:buClr>
              <a:buSzPts val="1950"/>
              <a:buFont typeface="IBM Plex Mono"/>
              <a:buNone/>
            </a:pPr>
            <a:r>
              <a:rPr b="0" i="0" lang="en-US" sz="1950" u="none" cap="none" strike="noStrike">
                <a:solidFill>
                  <a:srgbClr val="73D0CA"/>
                </a:solidFill>
                <a:latin typeface="IBM Plex Mono"/>
                <a:ea typeface="IBM Plex Mono"/>
                <a:cs typeface="IBM Plex Mono"/>
                <a:sym typeface="IBM Plex Mono"/>
              </a:rPr>
              <a:t>WAYMARK · ALMANAC · ONE SYSTEM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C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952439" y="952439"/>
            <a:ext cx="18021390" cy="698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Brand traits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952439" y="2184751"/>
            <a:ext cx="12753943" cy="15810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14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700"/>
              <a:buFont typeface="Archivo"/>
              <a:buNone/>
            </a:pPr>
            <a:r>
              <a:rPr b="0" i="0" lang="en-US" sz="27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The engine watches sales velocity, shelf state and supplier lead times, then tells you what it would do. Every recommendation is a suggestion you can accept, adjust or ignore.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952439" y="4489604"/>
            <a:ext cx="3063282" cy="1582073"/>
          </a:xfrm>
          <a:prstGeom prst="roundRect">
            <a:avLst>
              <a:gd fmla="val 9633" name="adj"/>
            </a:avLst>
          </a:prstGeom>
          <a:solidFill>
            <a:srgbClr val="EDE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257202" y="4870558"/>
            <a:ext cx="2699132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CF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9B5CF0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257202" y="5322051"/>
            <a:ext cx="2699132" cy="4067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E4E"/>
              </a:buClr>
              <a:buSzPts val="2700"/>
              <a:buFont typeface="Archivo"/>
              <a:buNone/>
            </a:pPr>
            <a:r>
              <a:rPr b="1" i="0" lang="en-US" sz="2700" u="none" cap="none" strike="noStrike">
                <a:solidFill>
                  <a:srgbClr val="2B1E4E"/>
                </a:solidFill>
                <a:latin typeface="Archivo"/>
                <a:ea typeface="Archivo"/>
                <a:cs typeface="Archivo"/>
                <a:sym typeface="Archivo"/>
              </a:rPr>
              <a:t>Trust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282335" y="4489604"/>
            <a:ext cx="3063282" cy="1582073"/>
          </a:xfrm>
          <a:prstGeom prst="roundRect">
            <a:avLst>
              <a:gd fmla="val 9633" name="adj"/>
            </a:avLst>
          </a:prstGeom>
          <a:solidFill>
            <a:srgbClr val="EDE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587098" y="4870558"/>
            <a:ext cx="2699132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CF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9B5CF0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87098" y="5322051"/>
            <a:ext cx="2699132" cy="4067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E4E"/>
              </a:buClr>
              <a:buSzPts val="2700"/>
              <a:buFont typeface="Archivo"/>
              <a:buNone/>
            </a:pPr>
            <a:r>
              <a:rPr b="1" i="0" lang="en-US" sz="2700" u="none" cap="none" strike="noStrike">
                <a:solidFill>
                  <a:srgbClr val="2B1E4E"/>
                </a:solidFill>
                <a:latin typeface="Archivo"/>
                <a:ea typeface="Archivo"/>
                <a:cs typeface="Archivo"/>
                <a:sym typeface="Archivo"/>
              </a:rPr>
              <a:t>Sophistication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7612230" y="4489604"/>
            <a:ext cx="3063391" cy="1582073"/>
          </a:xfrm>
          <a:prstGeom prst="roundRect">
            <a:avLst>
              <a:gd fmla="val 9633" name="adj"/>
            </a:avLst>
          </a:prstGeom>
          <a:solidFill>
            <a:srgbClr val="EDE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7916993" y="4870558"/>
            <a:ext cx="2699251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CF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9B5CF0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7916993" y="5322051"/>
            <a:ext cx="2699251" cy="4067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E4E"/>
              </a:buClr>
              <a:buSzPts val="2700"/>
              <a:buFont typeface="Archivo"/>
              <a:buNone/>
            </a:pPr>
            <a:r>
              <a:rPr b="1" i="0" lang="en-US" sz="2700" u="none" cap="none" strike="noStrike">
                <a:solidFill>
                  <a:srgbClr val="2B1E4E"/>
                </a:solidFill>
                <a:latin typeface="Archivo"/>
                <a:ea typeface="Archivo"/>
                <a:cs typeface="Archivo"/>
                <a:sym typeface="Archivo"/>
              </a:rPr>
              <a:t>Simplicity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0942234" y="4489604"/>
            <a:ext cx="3063282" cy="1582073"/>
          </a:xfrm>
          <a:prstGeom prst="roundRect">
            <a:avLst>
              <a:gd fmla="val 9633" name="adj"/>
            </a:avLst>
          </a:prstGeom>
          <a:solidFill>
            <a:srgbClr val="EDE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11246997" y="4870558"/>
            <a:ext cx="2699132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CF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9B5CF0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1246997" y="5322051"/>
            <a:ext cx="2699132" cy="4067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E4E"/>
              </a:buClr>
              <a:buSzPts val="2700"/>
              <a:buFont typeface="Archivo"/>
              <a:buNone/>
            </a:pPr>
            <a:r>
              <a:rPr b="1" i="0" lang="en-US" sz="2700" u="none" cap="none" strike="noStrike">
                <a:solidFill>
                  <a:srgbClr val="2B1E4E"/>
                </a:solidFill>
                <a:latin typeface="Archivo"/>
                <a:ea typeface="Archivo"/>
                <a:cs typeface="Archivo"/>
                <a:sym typeface="Archivo"/>
              </a:rPr>
              <a:t>Smart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4272130" y="4489604"/>
            <a:ext cx="3063391" cy="1582073"/>
          </a:xfrm>
          <a:prstGeom prst="roundRect">
            <a:avLst>
              <a:gd fmla="val 9633" name="adj"/>
            </a:avLst>
          </a:prstGeom>
          <a:solidFill>
            <a:srgbClr val="EDE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14576893" y="4870558"/>
            <a:ext cx="2699251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CF0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9B5CF0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4576893" y="5322051"/>
            <a:ext cx="2699251" cy="4067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E4E"/>
              </a:buClr>
              <a:buSzPts val="2700"/>
              <a:buFont typeface="Archivo"/>
              <a:buNone/>
            </a:pPr>
            <a:r>
              <a:rPr b="1" i="0" lang="en-US" sz="2700" u="none" cap="none" strike="noStrike">
                <a:solidFill>
                  <a:srgbClr val="2B1E4E"/>
                </a:solidFill>
                <a:latin typeface="Archivo"/>
                <a:ea typeface="Archivo"/>
                <a:cs typeface="Archivo"/>
                <a:sym typeface="Archivo"/>
              </a:rPr>
              <a:t>Insight-based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952439" y="3194035"/>
            <a:ext cx="8539160" cy="698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The mark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952439" y="4273857"/>
            <a:ext cx="7995759" cy="15810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514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700"/>
              <a:buFont typeface="Archivo"/>
              <a:buNone/>
            </a:pPr>
            <a:r>
              <a:rPr b="0" i="0" lang="en-US" sz="27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A chevron moving toward a fixed point. The system suggests a direction; the marker is the decision that stays with the operator.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952439" y="6235796"/>
            <a:ext cx="7995759" cy="89521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2250"/>
              <a:buFont typeface="Archivo"/>
              <a:buNone/>
            </a:pPr>
            <a:r>
              <a:rPr b="0" i="0" lang="en-US" sz="2250" u="none" cap="none" strike="noStrike">
                <a:solidFill>
                  <a:srgbClr val="6B6478"/>
                </a:solidFill>
                <a:latin typeface="Archivo"/>
                <a:ea typeface="Archivo"/>
                <a:cs typeface="Archivo"/>
                <a:sym typeface="Archivo"/>
              </a:rPr>
              <a:t>Built from squares, circles and diamonds, so it survives a 16px favicon and a printed sign alike.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9572540" y="2286049"/>
            <a:ext cx="7762981" cy="5714852"/>
          </a:xfrm>
          <a:prstGeom prst="roundRect">
            <a:avLst>
              <a:gd fmla="val 4000" name="adj"/>
            </a:avLst>
          </a:prstGeom>
          <a:solidFill>
            <a:srgbClr val="FB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53832" y="3143277"/>
            <a:ext cx="4000396" cy="4000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C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3623" y="3143277"/>
            <a:ext cx="4000396" cy="400039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6"/>
          <p:cNvSpPr/>
          <p:nvPr/>
        </p:nvSpPr>
        <p:spPr>
          <a:xfrm>
            <a:off x="9572540" y="3289246"/>
            <a:ext cx="8539280" cy="698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Construction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9572540" y="4331027"/>
            <a:ext cx="7995871" cy="14095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844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400"/>
              <a:buFont typeface="Archivo"/>
              <a:buNone/>
            </a:pPr>
            <a:r>
              <a:rPr b="0" i="0" lang="en-US" sz="24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The chevron spans 8 to 47 on the x-axis at a 45° stroke, 13 units wide. The point sits at x=54 with a 6-unit radius, its centre on the vertical midline.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9572540" y="6083415"/>
            <a:ext cx="7995871" cy="9523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844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400"/>
              <a:buFont typeface="Archivo"/>
              <a:buNone/>
            </a:pPr>
            <a:r>
              <a:rPr b="0" i="0" lang="en-US" sz="24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The 7-unit gap between chevron tip and point is fixed. It is the pause before a decision and should never close.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/>
          <p:nvPr/>
        </p:nvSpPr>
        <p:spPr>
          <a:xfrm>
            <a:off x="952439" y="952439"/>
            <a:ext cx="18021390" cy="698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Clearspace and minimum sizes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439" y="3016437"/>
            <a:ext cx="4476670" cy="435287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/>
          <p:nvPr/>
        </p:nvSpPr>
        <p:spPr>
          <a:xfrm>
            <a:off x="952439" y="7635924"/>
            <a:ext cx="8044904" cy="8667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66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250"/>
              <a:buFont typeface="Archivo"/>
              <a:buNone/>
            </a:pPr>
            <a:r>
              <a:rPr b="0" i="0" lang="en-US" sz="22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Clear space equals the diameter of the point on all four sides. Nothing crosses it. On signage, double it.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" name="Google Shape;7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4934" y="3595639"/>
            <a:ext cx="914398" cy="91439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7"/>
          <p:cNvSpPr/>
          <p:nvPr/>
        </p:nvSpPr>
        <p:spPr>
          <a:xfrm>
            <a:off x="9524934" y="4662419"/>
            <a:ext cx="624861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64px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" name="Google Shape;7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10816" y="4052893"/>
            <a:ext cx="457145" cy="45714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7"/>
          <p:cNvSpPr/>
          <p:nvPr/>
        </p:nvSpPr>
        <p:spPr>
          <a:xfrm>
            <a:off x="11010816" y="4662419"/>
            <a:ext cx="624861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24px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" name="Google Shape;7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130962" y="4205274"/>
            <a:ext cx="304763" cy="304763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7"/>
          <p:cNvSpPr/>
          <p:nvPr/>
        </p:nvSpPr>
        <p:spPr>
          <a:xfrm>
            <a:off x="12130962" y="4662419"/>
            <a:ext cx="624861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16px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9524934" y="5380525"/>
            <a:ext cx="8044904" cy="1323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250"/>
              <a:buFont typeface="Archivo"/>
              <a:buNone/>
            </a:pPr>
            <a:r>
              <a:rPr b="0" i="0" lang="en-US" sz="22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24px is the app minimum and 16px the favicon floor. Below 16px, drop to the mark alone; below 14px type, use the icon tile instead of the lockup. Print floor is 8mm mark height.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9524934" y="7085198"/>
            <a:ext cx="8044904" cy="8382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6B6478"/>
                </a:solidFill>
                <a:latin typeface="Archivo"/>
                <a:ea typeface="Archivo"/>
                <a:cs typeface="Archivo"/>
                <a:sym typeface="Archivo"/>
              </a:rPr>
              <a:t>The Waymark · Almanac lockup carries its own floor: it dies below a 20px wordmark. See slide 18.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/>
          <p:nvPr/>
        </p:nvSpPr>
        <p:spPr>
          <a:xfrm>
            <a:off x="952439" y="952439"/>
            <a:ext cx="18021390" cy="698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Misuse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952439" y="2146602"/>
            <a:ext cx="3838667" cy="3750521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9525">
            <a:solidFill>
              <a:srgbClr val="E4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080000">
            <a:off x="1971577" y="2491652"/>
            <a:ext cx="1800283" cy="180028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8"/>
          <p:cNvSpPr/>
          <p:nvPr/>
        </p:nvSpPr>
        <p:spPr>
          <a:xfrm>
            <a:off x="959395" y="4630030"/>
            <a:ext cx="3824755" cy="9525"/>
          </a:xfrm>
          <a:prstGeom prst="rect">
            <a:avLst/>
          </a:prstGeom>
          <a:solidFill>
            <a:srgbClr val="EDE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"/>
          <p:cNvSpPr/>
          <p:nvPr/>
        </p:nvSpPr>
        <p:spPr>
          <a:xfrm>
            <a:off x="1245145" y="4903686"/>
            <a:ext cx="3367998" cy="7578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238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Never rotate. The mark points right.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5133910" y="2146602"/>
            <a:ext cx="3838667" cy="3750521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9525">
            <a:solidFill>
              <a:srgbClr val="E4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8833" y="2677437"/>
            <a:ext cx="1428713" cy="142871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"/>
          <p:cNvSpPr/>
          <p:nvPr/>
        </p:nvSpPr>
        <p:spPr>
          <a:xfrm>
            <a:off x="5140866" y="4630030"/>
            <a:ext cx="3824755" cy="9525"/>
          </a:xfrm>
          <a:prstGeom prst="rect">
            <a:avLst/>
          </a:prstGeom>
          <a:solidFill>
            <a:srgbClr val="EDE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5426616" y="4903686"/>
            <a:ext cx="3367998" cy="7578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238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No colours outside the brand ramp.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9315382" y="2146602"/>
            <a:ext cx="3838667" cy="3750521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9525">
            <a:solidFill>
              <a:srgbClr val="E4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34563" y="2772648"/>
            <a:ext cx="2000198" cy="123818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8"/>
          <p:cNvSpPr/>
          <p:nvPr/>
        </p:nvSpPr>
        <p:spPr>
          <a:xfrm>
            <a:off x="9322338" y="4630030"/>
            <a:ext cx="3824755" cy="9525"/>
          </a:xfrm>
          <a:prstGeom prst="rect">
            <a:avLst/>
          </a:prstGeom>
          <a:solidFill>
            <a:srgbClr val="EDE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"/>
          <p:cNvSpPr/>
          <p:nvPr/>
        </p:nvSpPr>
        <p:spPr>
          <a:xfrm>
            <a:off x="9608088" y="4903686"/>
            <a:ext cx="3367998" cy="397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238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Never stretch or condense.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13496853" y="2146602"/>
            <a:ext cx="3838667" cy="3750521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9525">
            <a:solidFill>
              <a:srgbClr val="E4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13503809" y="2153558"/>
            <a:ext cx="3824755" cy="2476472"/>
          </a:xfrm>
          <a:prstGeom prst="rect">
            <a:avLst/>
          </a:prstGeom>
          <a:solidFill>
            <a:srgbClr val="5A3A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701776" y="2677437"/>
            <a:ext cx="1428713" cy="142871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/>
          <p:nvPr/>
        </p:nvSpPr>
        <p:spPr>
          <a:xfrm>
            <a:off x="13503809" y="4630030"/>
            <a:ext cx="3824755" cy="9525"/>
          </a:xfrm>
          <a:prstGeom prst="rect">
            <a:avLst/>
          </a:prstGeom>
          <a:solidFill>
            <a:srgbClr val="EDE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13789559" y="4903686"/>
            <a:ext cx="3367998" cy="7578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238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No violet mark on violet. Go white.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952439" y="6430458"/>
            <a:ext cx="13734954" cy="8382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6B6478"/>
                </a:solidFill>
                <a:latin typeface="Archivo"/>
                <a:ea typeface="Archivo"/>
                <a:cs typeface="Archivo"/>
                <a:sym typeface="Archivo"/>
              </a:rPr>
              <a:t>Cyan is not an alternative mark colour either. The mark is Waymark's; cyan belongs to the engine and never touches the chevron.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"/>
          <p:cNvSpPr/>
          <p:nvPr/>
        </p:nvSpPr>
        <p:spPr>
          <a:xfrm>
            <a:off x="952439" y="952439"/>
            <a:ext cx="18021390" cy="698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Brand ramp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952439" y="2146602"/>
            <a:ext cx="3838667" cy="2857426"/>
          </a:xfrm>
          <a:prstGeom prst="roundRect">
            <a:avLst>
              <a:gd fmla="val 6000" name="adj"/>
            </a:avLst>
          </a:prstGeom>
          <a:solidFill>
            <a:srgbClr val="2B1E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"/>
          <p:cNvSpPr/>
          <p:nvPr/>
        </p:nvSpPr>
        <p:spPr>
          <a:xfrm>
            <a:off x="952439" y="5232600"/>
            <a:ext cx="4222534" cy="392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550"/>
              <a:buFont typeface="Archivo"/>
              <a:buNone/>
            </a:pPr>
            <a:r>
              <a:rPr b="1" i="0" lang="en-US" sz="25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Ink indigo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952439" y="5815932"/>
            <a:ext cx="4222534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950"/>
              <a:buFont typeface="IBM Plex Mono"/>
              <a:buNone/>
            </a:pPr>
            <a:r>
              <a:rPr b="0" i="0" lang="en-US" sz="195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#2B1E4E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952439" y="6364484"/>
            <a:ext cx="3953827" cy="7847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802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Anchor. Headers, app chrome, icon tiles.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5133910" y="2146602"/>
            <a:ext cx="3838667" cy="2857426"/>
          </a:xfrm>
          <a:prstGeom prst="roundRect">
            <a:avLst>
              <a:gd fmla="val 6000" name="adj"/>
            </a:avLst>
          </a:prstGeom>
          <a:solidFill>
            <a:srgbClr val="5A3A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9"/>
          <p:cNvSpPr/>
          <p:nvPr/>
        </p:nvSpPr>
        <p:spPr>
          <a:xfrm>
            <a:off x="5133910" y="5232600"/>
            <a:ext cx="4222534" cy="392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550"/>
              <a:buFont typeface="Archivo"/>
              <a:buNone/>
            </a:pPr>
            <a:r>
              <a:rPr b="1" i="0" lang="en-US" sz="25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Royal violet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5133910" y="5815932"/>
            <a:ext cx="4222534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950"/>
              <a:buFont typeface="IBM Plex Mono"/>
              <a:buNone/>
            </a:pPr>
            <a:r>
              <a:rPr b="0" i="0" lang="en-US" sz="195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#5A3AA8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5133910" y="6364484"/>
            <a:ext cx="3953827" cy="7847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802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Primary. Buttons, active nav, the mark.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9315382" y="2146602"/>
            <a:ext cx="3838667" cy="2857426"/>
          </a:xfrm>
          <a:prstGeom prst="roundRect">
            <a:avLst>
              <a:gd fmla="val 6000" name="adj"/>
            </a:avLst>
          </a:prstGeom>
          <a:solidFill>
            <a:srgbClr val="9B5C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/>
          <p:cNvSpPr/>
          <p:nvPr/>
        </p:nvSpPr>
        <p:spPr>
          <a:xfrm>
            <a:off x="9315382" y="5232600"/>
            <a:ext cx="4222534" cy="392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550"/>
              <a:buFont typeface="Archivo"/>
              <a:buNone/>
            </a:pPr>
            <a:r>
              <a:rPr b="1" i="0" lang="en-US" sz="25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Accent violet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9315382" y="5815932"/>
            <a:ext cx="4222534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950"/>
              <a:buFont typeface="IBM Plex Mono"/>
              <a:buNone/>
            </a:pPr>
            <a:r>
              <a:rPr b="0" i="0" lang="en-US" sz="195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#9B5CF0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9315382" y="6364484"/>
            <a:ext cx="3953827" cy="7847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802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Hover, focus rings, dark-mode primary.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13496853" y="2146602"/>
            <a:ext cx="3838667" cy="2857426"/>
          </a:xfrm>
          <a:prstGeom prst="roundRect">
            <a:avLst>
              <a:gd fmla="val 6000" name="adj"/>
            </a:avLst>
          </a:prstGeom>
          <a:solidFill>
            <a:srgbClr val="EDE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13496853" y="5232600"/>
            <a:ext cx="4222534" cy="3928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550"/>
              <a:buFont typeface="Archivo"/>
              <a:buNone/>
            </a:pPr>
            <a:r>
              <a:rPr b="1" i="0" lang="en-US" sz="25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Lavender tint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13496853" y="5815932"/>
            <a:ext cx="4222534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950"/>
              <a:buFont typeface="IBM Plex Mono"/>
              <a:buNone/>
            </a:pPr>
            <a:r>
              <a:rPr b="0" i="0" lang="en-US" sz="195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#EDE7FA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13496853" y="6364484"/>
            <a:ext cx="3953827" cy="7847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802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Badges, selected rows, quiet fills.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C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"/>
          <p:cNvSpPr/>
          <p:nvPr/>
        </p:nvSpPr>
        <p:spPr>
          <a:xfrm>
            <a:off x="952439" y="952439"/>
            <a:ext cx="18021390" cy="698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Neutrals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952439" y="2146602"/>
            <a:ext cx="3032740" cy="2504296"/>
          </a:xfrm>
          <a:prstGeom prst="roundRect">
            <a:avLst>
              <a:gd fmla="val 6846" name="adj"/>
            </a:avLst>
          </a:prstGeom>
          <a:solidFill>
            <a:srgbClr val="FBFAFC"/>
          </a:solidFill>
          <a:ln cap="flat" cmpd="sng" w="13900">
            <a:solidFill>
              <a:srgbClr val="E4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"/>
          <p:cNvSpPr/>
          <p:nvPr/>
        </p:nvSpPr>
        <p:spPr>
          <a:xfrm>
            <a:off x="952439" y="4860341"/>
            <a:ext cx="3336015" cy="3650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400"/>
              <a:buFont typeface="Archivo"/>
              <a:buNone/>
            </a:pPr>
            <a:r>
              <a:rPr b="1" i="0" lang="en-US" sz="24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Paper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952439" y="5396719"/>
            <a:ext cx="3336015" cy="3441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75"/>
              <a:buFont typeface="IBM Plex Mono"/>
              <a:buNone/>
            </a:pPr>
            <a:r>
              <a:rPr b="0" i="0" lang="en-US" sz="1875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#FBFAFC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952439" y="5912230"/>
            <a:ext cx="3336015" cy="3848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165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Page base in light mode.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4289943" y="2146602"/>
            <a:ext cx="3032849" cy="2504296"/>
          </a:xfrm>
          <a:prstGeom prst="roundRect">
            <a:avLst>
              <a:gd fmla="val 6846" name="adj"/>
            </a:avLst>
          </a:prstGeom>
          <a:solidFill>
            <a:srgbClr val="FFFFFF"/>
          </a:solidFill>
          <a:ln cap="flat" cmpd="sng" w="13900">
            <a:solidFill>
              <a:srgbClr val="E4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"/>
          <p:cNvSpPr/>
          <p:nvPr/>
        </p:nvSpPr>
        <p:spPr>
          <a:xfrm>
            <a:off x="4289943" y="4860341"/>
            <a:ext cx="3336134" cy="3650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400"/>
              <a:buFont typeface="Archivo"/>
              <a:buNone/>
            </a:pPr>
            <a:r>
              <a:rPr b="1" i="0" lang="en-US" sz="24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White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4289943" y="5396719"/>
            <a:ext cx="3336134" cy="3441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75"/>
              <a:buFont typeface="IBM Plex Mono"/>
              <a:buNone/>
            </a:pPr>
            <a:r>
              <a:rPr b="0" i="0" lang="en-US" sz="1875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#FFFFFF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4289943" y="5912230"/>
            <a:ext cx="3336134" cy="3848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165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Cards, tables, modals.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7627555" y="2146602"/>
            <a:ext cx="3032740" cy="2476472"/>
          </a:xfrm>
          <a:prstGeom prst="roundRect">
            <a:avLst>
              <a:gd fmla="val 6923" name="adj"/>
            </a:avLst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"/>
          <p:cNvSpPr/>
          <p:nvPr/>
        </p:nvSpPr>
        <p:spPr>
          <a:xfrm>
            <a:off x="7627555" y="4832517"/>
            <a:ext cx="3336015" cy="3650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400"/>
              <a:buFont typeface="Archivo"/>
              <a:buNone/>
            </a:pPr>
            <a:r>
              <a:rPr b="1" i="0" lang="en-US" sz="24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Line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7627555" y="5368896"/>
            <a:ext cx="3336015" cy="3441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75"/>
              <a:buFont typeface="IBM Plex Mono"/>
              <a:buNone/>
            </a:pPr>
            <a:r>
              <a:rPr b="0" i="0" lang="en-US" sz="1875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#E4E1E9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7627555" y="5884406"/>
            <a:ext cx="3336015" cy="3848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165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Borders and table rules.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10965059" y="2146602"/>
            <a:ext cx="3032849" cy="2476472"/>
          </a:xfrm>
          <a:prstGeom prst="roundRect">
            <a:avLst>
              <a:gd fmla="val 6923" name="adj"/>
            </a:avLst>
          </a:prstGeom>
          <a:solidFill>
            <a:srgbClr val="6B64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"/>
          <p:cNvSpPr/>
          <p:nvPr/>
        </p:nvSpPr>
        <p:spPr>
          <a:xfrm>
            <a:off x="10965059" y="4832517"/>
            <a:ext cx="3336134" cy="3650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400"/>
              <a:buFont typeface="Archivo"/>
              <a:buNone/>
            </a:pPr>
            <a:r>
              <a:rPr b="1" i="0" lang="en-US" sz="24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Slate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10965059" y="5368896"/>
            <a:ext cx="3336134" cy="3441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75"/>
              <a:buFont typeface="IBM Plex Mono"/>
              <a:buNone/>
            </a:pPr>
            <a:r>
              <a:rPr b="0" i="0" lang="en-US" sz="1875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#6B6478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10965059" y="5884406"/>
            <a:ext cx="3336134" cy="3848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165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Secondary text and labels.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14302671" y="2146602"/>
            <a:ext cx="3032740" cy="2476472"/>
          </a:xfrm>
          <a:prstGeom prst="roundRect">
            <a:avLst>
              <a:gd fmla="val 6923" name="adj"/>
            </a:avLst>
          </a:prstGeom>
          <a:solidFill>
            <a:srgbClr val="1410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"/>
          <p:cNvSpPr/>
          <p:nvPr/>
        </p:nvSpPr>
        <p:spPr>
          <a:xfrm>
            <a:off x="14302671" y="4832517"/>
            <a:ext cx="3336015" cy="3650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400"/>
              <a:buFont typeface="Archivo"/>
              <a:buNone/>
            </a:pPr>
            <a:r>
              <a:rPr b="1" i="0" lang="en-US" sz="24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Ink black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14302671" y="5368896"/>
            <a:ext cx="3336015" cy="3441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75"/>
              <a:buFont typeface="IBM Plex Mono"/>
              <a:buNone/>
            </a:pPr>
            <a:r>
              <a:rPr b="0" i="0" lang="en-US" sz="1875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#14101F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14302671" y="5884406"/>
            <a:ext cx="3336015" cy="3848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165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Dark-mode base, body text.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/>
          <p:nvPr/>
        </p:nvSpPr>
        <p:spPr>
          <a:xfrm>
            <a:off x="952439" y="952439"/>
            <a:ext cx="3607410" cy="698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Engine cyan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13015253" y="1251550"/>
            <a:ext cx="4752294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FOUR VALUES · ONE STRUCTURE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952439" y="2736936"/>
            <a:ext cx="6846600" cy="18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844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400"/>
              <a:buFont typeface="Archivo"/>
              <a:buNone/>
            </a:pPr>
            <a:r>
              <a:rPr b="0" i="0" lang="en-US" sz="24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Recommendation surfaces need a colour that is not violet, or insights sink into the UI. Cyan sits opposite violet at the same chroma. It separates cleanly without warming the brand.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952439" y="4777678"/>
            <a:ext cx="6846600" cy="8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250"/>
              <a:buFont typeface="Archivo"/>
              <a:buNone/>
            </a:pPr>
            <a:r>
              <a:rPr b="0" i="0" lang="en-US" sz="22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In-product, cyan is Almanac's alone. In brand documents it may mark Almanac-related content.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952439" y="5847035"/>
            <a:ext cx="6846600" cy="13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2250"/>
              <a:buFont typeface="Archivo"/>
              <a:buNone/>
            </a:pPr>
            <a:r>
              <a:rPr b="0" i="0" lang="en-US" sz="2250" u="none" cap="none" strike="noStrike">
                <a:solidFill>
                  <a:srgbClr val="6B6478"/>
                </a:solidFill>
                <a:latin typeface="Archivo"/>
                <a:ea typeface="Archivo"/>
                <a:cs typeface="Archivo"/>
                <a:sym typeface="Archivo"/>
              </a:rPr>
              <a:t>Every semantic family in this system carries the same four values: a signal for edges and fills, a text value, a tint, and a dark-surface value.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8361638" y="2070411"/>
            <a:ext cx="8973882" cy="5975487"/>
          </a:xfrm>
          <a:prstGeom prst="roundRect">
            <a:avLst>
              <a:gd fmla="val 3188" name="adj"/>
            </a:avLst>
          </a:prstGeom>
          <a:solidFill>
            <a:srgbClr val="FBFAFC"/>
          </a:solidFill>
          <a:ln cap="flat" cmpd="sng" w="13900">
            <a:solidFill>
              <a:srgbClr val="E4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"/>
          <p:cNvSpPr/>
          <p:nvPr/>
        </p:nvSpPr>
        <p:spPr>
          <a:xfrm>
            <a:off x="8375551" y="2084323"/>
            <a:ext cx="8946057" cy="846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"/>
          <p:cNvSpPr/>
          <p:nvPr/>
        </p:nvSpPr>
        <p:spPr>
          <a:xfrm>
            <a:off x="8375551" y="2916661"/>
            <a:ext cx="8946057" cy="13912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"/>
          <p:cNvSpPr/>
          <p:nvPr/>
        </p:nvSpPr>
        <p:spPr>
          <a:xfrm>
            <a:off x="9785026" y="2350936"/>
            <a:ext cx="3143168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TOKEN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12909064" y="2350936"/>
            <a:ext cx="4476713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ROLE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8375551" y="4195492"/>
            <a:ext cx="8946057" cy="13912"/>
          </a:xfrm>
          <a:prstGeom prst="rect">
            <a:avLst/>
          </a:prstGeom>
          <a:solidFill>
            <a:srgbClr val="EDE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>
            <a:off x="8718355" y="3296311"/>
            <a:ext cx="800057" cy="533335"/>
          </a:xfrm>
          <a:prstGeom prst="roundRect">
            <a:avLst>
              <a:gd fmla="val 17859" name="adj"/>
            </a:avLst>
          </a:prstGeom>
          <a:solidFill>
            <a:srgbClr val="0E8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1"/>
          <p:cNvSpPr/>
          <p:nvPr/>
        </p:nvSpPr>
        <p:spPr>
          <a:xfrm>
            <a:off x="9785026" y="3224902"/>
            <a:ext cx="3143168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950"/>
              <a:buFont typeface="IBM Plex Mono"/>
              <a:buNone/>
            </a:pPr>
            <a:r>
              <a:rPr b="0" i="0" lang="en-US" sz="1950" u="none" cap="none" strike="noStrike">
                <a:solidFill>
                  <a:srgbClr val="14101F"/>
                </a:solidFill>
                <a:latin typeface="IBM Plex Mono"/>
                <a:ea typeface="IBM Plex Mono"/>
                <a:cs typeface="IBM Plex Mono"/>
                <a:sym typeface="IBM Plex Mono"/>
              </a:rPr>
              <a:t>cyan.signal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9785026" y="3601943"/>
            <a:ext cx="3143168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#0E8C86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12909064" y="3216316"/>
            <a:ext cx="4191832" cy="7315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165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Top edge, fills, 3px rules, interval caps.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8375551" y="5474323"/>
            <a:ext cx="8946057" cy="13912"/>
          </a:xfrm>
          <a:prstGeom prst="rect">
            <a:avLst/>
          </a:prstGeom>
          <a:solidFill>
            <a:srgbClr val="EDE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"/>
          <p:cNvSpPr/>
          <p:nvPr/>
        </p:nvSpPr>
        <p:spPr>
          <a:xfrm>
            <a:off x="8718355" y="4575142"/>
            <a:ext cx="800057" cy="533335"/>
          </a:xfrm>
          <a:prstGeom prst="roundRect">
            <a:avLst>
              <a:gd fmla="val 17859" name="adj"/>
            </a:avLst>
          </a:prstGeom>
          <a:solidFill>
            <a:srgbClr val="0A5F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9785026" y="4503733"/>
            <a:ext cx="3143168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950"/>
              <a:buFont typeface="IBM Plex Mono"/>
              <a:buNone/>
            </a:pPr>
            <a:r>
              <a:rPr b="0" i="0" lang="en-US" sz="1950" u="none" cap="none" strike="noStrike">
                <a:solidFill>
                  <a:srgbClr val="14101F"/>
                </a:solidFill>
                <a:latin typeface="IBM Plex Mono"/>
                <a:ea typeface="IBM Plex Mono"/>
                <a:cs typeface="IBM Plex Mono"/>
                <a:sym typeface="IBM Plex Mono"/>
              </a:rPr>
              <a:t>cyan.text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9785026" y="4880774"/>
            <a:ext cx="3143168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#0A5F5B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12909064" y="4495147"/>
            <a:ext cx="4191832" cy="7315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165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Labels and figures. 7.5:1 on white, so labels pass AA at 11px.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8375551" y="6753154"/>
            <a:ext cx="8946057" cy="13912"/>
          </a:xfrm>
          <a:prstGeom prst="rect">
            <a:avLst/>
          </a:prstGeom>
          <a:solidFill>
            <a:srgbClr val="EDE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"/>
          <p:cNvSpPr/>
          <p:nvPr/>
        </p:nvSpPr>
        <p:spPr>
          <a:xfrm>
            <a:off x="8718355" y="5847017"/>
            <a:ext cx="813970" cy="547248"/>
          </a:xfrm>
          <a:prstGeom prst="roundRect">
            <a:avLst>
              <a:gd fmla="val 17405" name="adj"/>
            </a:avLst>
          </a:prstGeom>
          <a:solidFill>
            <a:srgbClr val="E3F3F1"/>
          </a:solidFill>
          <a:ln cap="flat" cmpd="sng" w="9525">
            <a:solidFill>
              <a:srgbClr val="B9DC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9785026" y="5782564"/>
            <a:ext cx="3143168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950"/>
              <a:buFont typeface="IBM Plex Mono"/>
              <a:buNone/>
            </a:pPr>
            <a:r>
              <a:rPr b="0" i="0" lang="en-US" sz="1950" u="none" cap="none" strike="noStrike">
                <a:solidFill>
                  <a:srgbClr val="14101F"/>
                </a:solidFill>
                <a:latin typeface="IBM Plex Mono"/>
                <a:ea typeface="IBM Plex Mono"/>
                <a:cs typeface="IBM Plex Mono"/>
                <a:sym typeface="IBM Plex Mono"/>
              </a:rPr>
              <a:t>cyan.tint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9785026" y="6159605"/>
            <a:ext cx="3143168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#E3F3F1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12909064" y="5773978"/>
            <a:ext cx="4191832" cy="7315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165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Interval bars and quiet fills. Not a card background.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8375551" y="6767067"/>
            <a:ext cx="8946057" cy="1264919"/>
          </a:xfrm>
          <a:prstGeom prst="rect">
            <a:avLst/>
          </a:prstGeom>
          <a:solidFill>
            <a:srgbClr val="1410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8718355" y="7132804"/>
            <a:ext cx="800057" cy="533335"/>
          </a:xfrm>
          <a:prstGeom prst="roundRect">
            <a:avLst>
              <a:gd fmla="val 17859" name="adj"/>
            </a:avLst>
          </a:prstGeom>
          <a:solidFill>
            <a:srgbClr val="73D0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9785026" y="7061396"/>
            <a:ext cx="3143168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BM Plex Mono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cyan.dark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9785026" y="7438437"/>
            <a:ext cx="3143168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FB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A79FB8"/>
                </a:solidFill>
                <a:latin typeface="IBM Plex Mono"/>
                <a:ea typeface="IBM Plex Mono"/>
                <a:cs typeface="IBM Plex Mono"/>
                <a:sym typeface="IBM Plex Mono"/>
              </a:rPr>
              <a:t>#73D0CA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12909064" y="7052809"/>
            <a:ext cx="4191832" cy="7315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165"/>
              </a:lnSpc>
              <a:spcBef>
                <a:spcPts val="0"/>
              </a:spcBef>
              <a:spcAft>
                <a:spcPts val="0"/>
              </a:spcAft>
              <a:buClr>
                <a:srgbClr val="C6C0D2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C6C0D2"/>
                </a:solidFill>
                <a:latin typeface="Archivo"/>
                <a:ea typeface="Archivo"/>
                <a:cs typeface="Archivo"/>
                <a:sym typeface="Archivo"/>
              </a:rPr>
              <a:t>On ink and indigo. 10.33:1 on #14101F, 8.30:1 on #2B1E4E.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C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/>
          <p:nvPr/>
        </p:nvSpPr>
        <p:spPr>
          <a:xfrm>
            <a:off x="952451" y="857225"/>
            <a:ext cx="53634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Semantic colour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13335342" y="1156339"/>
            <a:ext cx="4400197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TWO COLOURS · NO POSITIVE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952439" y="1899009"/>
            <a:ext cx="8001009" cy="5167930"/>
          </a:xfrm>
          <a:custGeom>
            <a:rect b="b" l="l" r="r" t="t"/>
            <a:pathLst>
              <a:path extrusionOk="0" h="5167930" w="8001009">
                <a:moveTo>
                  <a:pt x="57150" y="0"/>
                </a:moveTo>
                <a:lnTo>
                  <a:pt x="7943859" y="0"/>
                </a:lnTo>
                <a:cubicBezTo>
                  <a:pt x="7959016" y="0"/>
                  <a:pt x="7973552" y="6021"/>
                  <a:pt x="7984270" y="16739"/>
                </a:cubicBezTo>
                <a:cubicBezTo>
                  <a:pt x="7994988" y="27457"/>
                  <a:pt x="8001009" y="41993"/>
                  <a:pt x="8001009" y="57150"/>
                </a:cubicBezTo>
                <a:lnTo>
                  <a:pt x="8001009" y="4977430"/>
                </a:lnTo>
                <a:cubicBezTo>
                  <a:pt x="8001009" y="5082640"/>
                  <a:pt x="7915719" y="5167930"/>
                  <a:pt x="7810509" y="5167930"/>
                </a:cubicBezTo>
                <a:lnTo>
                  <a:pt x="190500" y="5167930"/>
                </a:lnTo>
                <a:cubicBezTo>
                  <a:pt x="85290" y="5167930"/>
                  <a:pt x="0" y="5082640"/>
                  <a:pt x="0" y="497743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2"/>
          <p:cNvSpPr/>
          <p:nvPr/>
        </p:nvSpPr>
        <p:spPr>
          <a:xfrm>
            <a:off x="952439" y="7053027"/>
            <a:ext cx="8001009" cy="13912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"/>
          <p:cNvSpPr/>
          <p:nvPr/>
        </p:nvSpPr>
        <p:spPr>
          <a:xfrm>
            <a:off x="952439" y="1899009"/>
            <a:ext cx="8001009" cy="55649"/>
          </a:xfrm>
          <a:prstGeom prst="rect">
            <a:avLst/>
          </a:prstGeom>
          <a:solidFill>
            <a:srgbClr val="C03F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"/>
          <p:cNvSpPr/>
          <p:nvPr/>
        </p:nvSpPr>
        <p:spPr>
          <a:xfrm>
            <a:off x="952439" y="1899009"/>
            <a:ext cx="13912" cy="5167930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2"/>
          <p:cNvSpPr/>
          <p:nvPr/>
        </p:nvSpPr>
        <p:spPr>
          <a:xfrm>
            <a:off x="8939536" y="1899009"/>
            <a:ext cx="13912" cy="5167930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966351" y="2797647"/>
            <a:ext cx="7973185" cy="13912"/>
          </a:xfrm>
          <a:prstGeom prst="rect">
            <a:avLst/>
          </a:prstGeom>
          <a:solidFill>
            <a:srgbClr val="EDE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"/>
          <p:cNvSpPr/>
          <p:nvPr/>
        </p:nvSpPr>
        <p:spPr>
          <a:xfrm>
            <a:off x="1290135" y="2202250"/>
            <a:ext cx="1689827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292F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93292F"/>
                </a:solidFill>
                <a:latin typeface="IBM Plex Mono"/>
                <a:ea typeface="IBM Plex Mono"/>
                <a:cs typeface="IBM Plex Mono"/>
                <a:sym typeface="IBM Plex Mono"/>
              </a:rPr>
              <a:t>CRITICAL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5419435" y="2264855"/>
            <a:ext cx="3515949" cy="3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Archivo"/>
                <a:ea typeface="Archivo"/>
                <a:cs typeface="Archivo"/>
                <a:sym typeface="Archivo"/>
              </a:rPr>
              <a:t>ΔE 55 from cyan · 36 from violet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966351" y="3866709"/>
            <a:ext cx="7973185" cy="9525"/>
          </a:xfrm>
          <a:prstGeom prst="rect">
            <a:avLst/>
          </a:prstGeom>
          <a:solidFill>
            <a:srgbClr val="EDE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2"/>
          <p:cNvSpPr/>
          <p:nvPr/>
        </p:nvSpPr>
        <p:spPr>
          <a:xfrm>
            <a:off x="1290135" y="3129582"/>
            <a:ext cx="609526" cy="418995"/>
          </a:xfrm>
          <a:prstGeom prst="roundRect">
            <a:avLst>
              <a:gd fmla="val 18186" name="adj"/>
            </a:avLst>
          </a:prstGeom>
          <a:solidFill>
            <a:srgbClr val="C03F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2109104" y="3021002"/>
            <a:ext cx="2724119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4101F"/>
                </a:solidFill>
                <a:latin typeface="IBM Plex Mono"/>
                <a:ea typeface="IBM Plex Mono"/>
                <a:cs typeface="IBM Plex Mono"/>
                <a:sym typeface="IBM Plex Mono"/>
              </a:rPr>
              <a:t>critical.signal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2109104" y="3358155"/>
            <a:ext cx="2724119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#C03F44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4795019" y="3030567"/>
            <a:ext cx="3935356" cy="6552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238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Top edge, fills, 3px rules. 5.20:1 on white.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966351" y="4928815"/>
            <a:ext cx="7973185" cy="9525"/>
          </a:xfrm>
          <a:prstGeom prst="rect">
            <a:avLst/>
          </a:prstGeom>
          <a:solidFill>
            <a:srgbClr val="EDE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1290135" y="4191688"/>
            <a:ext cx="609526" cy="418995"/>
          </a:xfrm>
          <a:prstGeom prst="roundRect">
            <a:avLst>
              <a:gd fmla="val 18186" name="adj"/>
            </a:avLst>
          </a:prstGeom>
          <a:solidFill>
            <a:srgbClr val="932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2109104" y="4083108"/>
            <a:ext cx="2724119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4101F"/>
                </a:solidFill>
                <a:latin typeface="IBM Plex Mono"/>
                <a:ea typeface="IBM Plex Mono"/>
                <a:cs typeface="IBM Plex Mono"/>
                <a:sym typeface="IBM Plex Mono"/>
              </a:rPr>
              <a:t>critical.text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2109104" y="4420260"/>
            <a:ext cx="2724119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#93292F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4795019" y="4092673"/>
            <a:ext cx="3935356" cy="6552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238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Labels and text. 8.08:1 on white, 7.20:1 on its own tint.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966351" y="5990921"/>
            <a:ext cx="7973185" cy="9525"/>
          </a:xfrm>
          <a:prstGeom prst="rect">
            <a:avLst/>
          </a:prstGeom>
          <a:solidFill>
            <a:srgbClr val="EDE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1290135" y="5246838"/>
            <a:ext cx="623438" cy="432907"/>
          </a:xfrm>
          <a:prstGeom prst="roundRect">
            <a:avLst>
              <a:gd fmla="val 17602" name="adj"/>
            </a:avLst>
          </a:prstGeom>
          <a:solidFill>
            <a:srgbClr val="FFEEED"/>
          </a:solidFill>
          <a:ln cap="flat" cmpd="sng" w="9525">
            <a:solidFill>
              <a:srgbClr val="F3D4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2109104" y="5145214"/>
            <a:ext cx="2724119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4101F"/>
                </a:solidFill>
                <a:latin typeface="IBM Plex Mono"/>
                <a:ea typeface="IBM Plex Mono"/>
                <a:cs typeface="IBM Plex Mono"/>
                <a:sym typeface="IBM Plex Mono"/>
              </a:rPr>
              <a:t>critical.tint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2109104" y="5482367"/>
            <a:ext cx="2724119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#FFEEED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4795019" y="5309008"/>
            <a:ext cx="4202807" cy="3466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238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Card background.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966351" y="5997877"/>
            <a:ext cx="7973185" cy="1055150"/>
          </a:xfrm>
          <a:prstGeom prst="rect">
            <a:avLst/>
          </a:prstGeom>
          <a:solidFill>
            <a:srgbClr val="1410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1290135" y="6315900"/>
            <a:ext cx="609526" cy="418995"/>
          </a:xfrm>
          <a:prstGeom prst="roundRect">
            <a:avLst>
              <a:gd fmla="val 18186" name="adj"/>
            </a:avLst>
          </a:prstGeom>
          <a:solidFill>
            <a:srgbClr val="F79F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2109104" y="6207320"/>
            <a:ext cx="2724119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critical.dark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2109104" y="6544472"/>
            <a:ext cx="2724119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FB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A79FB8"/>
                </a:solidFill>
                <a:latin typeface="IBM Plex Mono"/>
                <a:ea typeface="IBM Plex Mono"/>
                <a:cs typeface="IBM Plex Mono"/>
                <a:sym typeface="IBM Plex Mono"/>
              </a:rPr>
              <a:t>#F79F9A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4795019" y="6371114"/>
            <a:ext cx="4202807" cy="3466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238"/>
              </a:lnSpc>
              <a:spcBef>
                <a:spcPts val="0"/>
              </a:spcBef>
              <a:spcAft>
                <a:spcPts val="0"/>
              </a:spcAft>
              <a:buClr>
                <a:srgbClr val="C6C0D2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C6C0D2"/>
                </a:solidFill>
                <a:latin typeface="Archivo"/>
                <a:ea typeface="Archivo"/>
                <a:cs typeface="Archivo"/>
                <a:sym typeface="Archivo"/>
              </a:rPr>
              <a:t>On ink/indigo. 9.24:1 and 7.42:1.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9334402" y="1899009"/>
            <a:ext cx="8001118" cy="5167930"/>
          </a:xfrm>
          <a:custGeom>
            <a:rect b="b" l="l" r="r" t="t"/>
            <a:pathLst>
              <a:path extrusionOk="0" h="5167930" w="8001118">
                <a:moveTo>
                  <a:pt x="57150" y="0"/>
                </a:moveTo>
                <a:lnTo>
                  <a:pt x="7943968" y="0"/>
                </a:lnTo>
                <a:cubicBezTo>
                  <a:pt x="7959125" y="0"/>
                  <a:pt x="7973661" y="6021"/>
                  <a:pt x="7984379" y="16739"/>
                </a:cubicBezTo>
                <a:cubicBezTo>
                  <a:pt x="7995097" y="27457"/>
                  <a:pt x="8001118" y="41993"/>
                  <a:pt x="8001118" y="57150"/>
                </a:cubicBezTo>
                <a:lnTo>
                  <a:pt x="8001118" y="4977430"/>
                </a:lnTo>
                <a:cubicBezTo>
                  <a:pt x="8001118" y="5082640"/>
                  <a:pt x="7915828" y="5167930"/>
                  <a:pt x="7810618" y="5167930"/>
                </a:cubicBezTo>
                <a:lnTo>
                  <a:pt x="190500" y="5167930"/>
                </a:lnTo>
                <a:cubicBezTo>
                  <a:pt x="85290" y="5167930"/>
                  <a:pt x="0" y="5082640"/>
                  <a:pt x="0" y="497743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9334402" y="7053027"/>
            <a:ext cx="8001118" cy="13912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9334402" y="1899009"/>
            <a:ext cx="8001118" cy="55649"/>
          </a:xfrm>
          <a:prstGeom prst="rect">
            <a:avLst/>
          </a:prstGeom>
          <a:solidFill>
            <a:srgbClr val="BA8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"/>
          <p:cNvSpPr/>
          <p:nvPr/>
        </p:nvSpPr>
        <p:spPr>
          <a:xfrm>
            <a:off x="9334402" y="1899009"/>
            <a:ext cx="13912" cy="5167930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17321608" y="1899009"/>
            <a:ext cx="13912" cy="5167930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9348314" y="2797647"/>
            <a:ext cx="7973294" cy="13912"/>
          </a:xfrm>
          <a:prstGeom prst="rect">
            <a:avLst/>
          </a:prstGeom>
          <a:solidFill>
            <a:srgbClr val="EDE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9672098" y="2202250"/>
            <a:ext cx="147856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80A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7C580A"/>
                </a:solidFill>
                <a:latin typeface="IBM Plex Mono"/>
                <a:ea typeface="IBM Plex Mono"/>
                <a:cs typeface="IBM Plex Mono"/>
                <a:sym typeface="IBM Plex Mono"/>
              </a:rPr>
              <a:t>WARNING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13800638" y="2264855"/>
            <a:ext cx="3516905" cy="3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Archivo"/>
                <a:ea typeface="Archivo"/>
                <a:cs typeface="Archivo"/>
                <a:sym typeface="Archivo"/>
              </a:rPr>
              <a:t>ΔE 39 from cyan · 63 from violet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9348314" y="3866709"/>
            <a:ext cx="7973294" cy="9525"/>
          </a:xfrm>
          <a:prstGeom prst="rect">
            <a:avLst/>
          </a:prstGeom>
          <a:solidFill>
            <a:srgbClr val="EDE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"/>
          <p:cNvSpPr/>
          <p:nvPr/>
        </p:nvSpPr>
        <p:spPr>
          <a:xfrm>
            <a:off x="9672098" y="3129582"/>
            <a:ext cx="609526" cy="418995"/>
          </a:xfrm>
          <a:prstGeom prst="roundRect">
            <a:avLst>
              <a:gd fmla="val 18186" name="adj"/>
            </a:avLst>
          </a:prstGeom>
          <a:solidFill>
            <a:srgbClr val="BA8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10491068" y="3021002"/>
            <a:ext cx="2724119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4101F"/>
                </a:solidFill>
                <a:latin typeface="IBM Plex Mono"/>
                <a:ea typeface="IBM Plex Mono"/>
                <a:cs typeface="IBM Plex Mono"/>
                <a:sym typeface="IBM Plex Mono"/>
              </a:rPr>
              <a:t>warning.signal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10491068" y="3358155"/>
            <a:ext cx="2724119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#BA8823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13176983" y="3030567"/>
            <a:ext cx="3935468" cy="6552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238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Top edge, fills, rules. 3.17:1 — UI only, never text.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9348314" y="4928815"/>
            <a:ext cx="7973294" cy="9525"/>
          </a:xfrm>
          <a:prstGeom prst="rect">
            <a:avLst/>
          </a:prstGeom>
          <a:solidFill>
            <a:srgbClr val="EDE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9672098" y="4191688"/>
            <a:ext cx="609526" cy="418995"/>
          </a:xfrm>
          <a:prstGeom prst="roundRect">
            <a:avLst>
              <a:gd fmla="val 18186" name="adj"/>
            </a:avLst>
          </a:prstGeom>
          <a:solidFill>
            <a:srgbClr val="7C58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"/>
          <p:cNvSpPr/>
          <p:nvPr/>
        </p:nvSpPr>
        <p:spPr>
          <a:xfrm>
            <a:off x="10491068" y="4083108"/>
            <a:ext cx="2724119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4101F"/>
                </a:solidFill>
                <a:latin typeface="IBM Plex Mono"/>
                <a:ea typeface="IBM Plex Mono"/>
                <a:cs typeface="IBM Plex Mono"/>
                <a:sym typeface="IBM Plex Mono"/>
              </a:rPr>
              <a:t>warning.text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10491068" y="4420260"/>
            <a:ext cx="2724119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#7C580A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13176983" y="4092673"/>
            <a:ext cx="3935468" cy="6552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238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Labels and text. 6.45:1 on white, 5.77:1 on its own tint.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9348314" y="5990921"/>
            <a:ext cx="7973294" cy="9525"/>
          </a:xfrm>
          <a:prstGeom prst="rect">
            <a:avLst/>
          </a:prstGeom>
          <a:solidFill>
            <a:srgbClr val="EDE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9672098" y="5246838"/>
            <a:ext cx="623438" cy="432907"/>
          </a:xfrm>
          <a:prstGeom prst="roundRect">
            <a:avLst>
              <a:gd fmla="val 17602" name="adj"/>
            </a:avLst>
          </a:prstGeom>
          <a:solidFill>
            <a:srgbClr val="FBF1E3"/>
          </a:solidFill>
          <a:ln cap="flat" cmpd="sng" w="9525">
            <a:solidFill>
              <a:srgbClr val="EAD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10491068" y="5145214"/>
            <a:ext cx="2724119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14101F"/>
                </a:solidFill>
                <a:latin typeface="IBM Plex Mono"/>
                <a:ea typeface="IBM Plex Mono"/>
                <a:cs typeface="IBM Plex Mono"/>
                <a:sym typeface="IBM Plex Mono"/>
              </a:rPr>
              <a:t>warning.tint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10491068" y="5482367"/>
            <a:ext cx="2724119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#FBF1E3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13176983" y="5309008"/>
            <a:ext cx="4202927" cy="3466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238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Card background.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9348314" y="5997877"/>
            <a:ext cx="7973294" cy="1055150"/>
          </a:xfrm>
          <a:prstGeom prst="rect">
            <a:avLst/>
          </a:prstGeom>
          <a:solidFill>
            <a:srgbClr val="1410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2"/>
          <p:cNvSpPr/>
          <p:nvPr/>
        </p:nvSpPr>
        <p:spPr>
          <a:xfrm>
            <a:off x="9672098" y="6315900"/>
            <a:ext cx="609526" cy="418995"/>
          </a:xfrm>
          <a:prstGeom prst="roundRect">
            <a:avLst>
              <a:gd fmla="val 18186" name="adj"/>
            </a:avLst>
          </a:prstGeom>
          <a:solidFill>
            <a:srgbClr val="F2C5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10491068" y="6207320"/>
            <a:ext cx="2724119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warning.dark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10491068" y="6544472"/>
            <a:ext cx="2724119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FB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A79FB8"/>
                </a:solidFill>
                <a:latin typeface="IBM Plex Mono"/>
                <a:ea typeface="IBM Plex Mono"/>
                <a:cs typeface="IBM Plex Mono"/>
                <a:sym typeface="IBM Plex Mono"/>
              </a:rPr>
              <a:t>#F2C57E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13176983" y="6371114"/>
            <a:ext cx="4202927" cy="3466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238"/>
              </a:lnSpc>
              <a:spcBef>
                <a:spcPts val="0"/>
              </a:spcBef>
              <a:spcAft>
                <a:spcPts val="0"/>
              </a:spcAft>
              <a:buClr>
                <a:srgbClr val="C6C0D2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C6C0D2"/>
                </a:solidFill>
                <a:latin typeface="Archivo"/>
                <a:ea typeface="Archivo"/>
                <a:cs typeface="Archivo"/>
                <a:sym typeface="Archivo"/>
              </a:rPr>
              <a:t>On ink/indigo. 11.63:1 and 9.34:1.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952439" y="7524084"/>
            <a:ext cx="5727764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292F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93292F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· WHY NO GREEN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952439" y="7918406"/>
            <a:ext cx="5363269" cy="13714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529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1875"/>
              <a:buFont typeface="Archivo"/>
              <a:buNone/>
            </a:pPr>
            <a:r>
              <a:rPr b="0" i="0" lang="en-US" sz="1875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The best yellow-green available sits ΔE2000 = 25 from cyan; a normal green reaches 21. That is inside the range where two colours read as one family.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6540451" y="7524084"/>
            <a:ext cx="5727764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292F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93292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· COLOUR VISION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6540451" y="7918406"/>
            <a:ext cx="5363269" cy="10381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529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1875"/>
              <a:buFont typeface="Archivo"/>
              <a:buNone/>
            </a:pPr>
            <a:r>
              <a:rPr b="0" i="0" lang="en-US" sz="1875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Red and green collapse to ΔE 6 under deuteranopia. Around 8% of men have red-green CVD — on a shop floor that is not an edge case.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12128462" y="7524084"/>
            <a:ext cx="5727764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292F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93292F"/>
                </a:solidFill>
                <a:latin typeface="IBM Plex Mono"/>
                <a:ea typeface="IBM Plex Mono"/>
                <a:cs typeface="IBM Plex Mono"/>
                <a:sym typeface="IBM Plex Mono"/>
              </a:rPr>
              <a:t>03 · VIOLET ALREADY CONFIRMS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12128462" y="7918406"/>
            <a:ext cx="5363269" cy="10381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529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1875"/>
              <a:buFont typeface="Archivo"/>
              <a:buNone/>
            </a:pPr>
            <a:r>
              <a:rPr b="0" i="0" lang="en-US" sz="1875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Violet owns every confirmation. And in this product the positive state is the absence of a warning, which needs no colour at all.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"/>
          <p:cNvSpPr/>
          <p:nvPr/>
        </p:nvSpPr>
        <p:spPr>
          <a:xfrm>
            <a:off x="952439" y="857228"/>
            <a:ext cx="18021390" cy="698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Colour roles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952439" y="1784668"/>
            <a:ext cx="16383081" cy="5497583"/>
          </a:xfrm>
          <a:prstGeom prst="roundRect">
            <a:avLst>
              <a:gd fmla="val 3465" name="adj"/>
            </a:avLst>
          </a:prstGeom>
          <a:solidFill>
            <a:srgbClr val="FFFFFF"/>
          </a:solidFill>
          <a:ln cap="flat" cmpd="sng" w="13900">
            <a:solidFill>
              <a:srgbClr val="E4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966351" y="1798580"/>
            <a:ext cx="16355258" cy="617787"/>
          </a:xfrm>
          <a:prstGeom prst="rect">
            <a:avLst/>
          </a:prstGeom>
          <a:solidFill>
            <a:srgbClr val="FB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966351" y="2402455"/>
            <a:ext cx="16355258" cy="13912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1347305" y="1950962"/>
            <a:ext cx="2933584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COLOUR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4357004" y="1950962"/>
            <a:ext cx="6732406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BELONGS 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10820177" y="1950962"/>
            <a:ext cx="6732525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NEVER USED FOR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966351" y="3415434"/>
            <a:ext cx="16355258" cy="13912"/>
          </a:xfrm>
          <a:prstGeom prst="rect">
            <a:avLst/>
          </a:prstGeom>
          <a:solidFill>
            <a:srgbClr val="EDE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1347305" y="2668199"/>
            <a:ext cx="495294" cy="495294"/>
          </a:xfrm>
          <a:prstGeom prst="roundRect">
            <a:avLst>
              <a:gd fmla="val 19231" name="adj"/>
            </a:avLst>
          </a:prstGeom>
          <a:solidFill>
            <a:srgbClr val="5A3A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2014001" y="2766236"/>
            <a:ext cx="1036247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#5A3AA8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4357004" y="2568748"/>
            <a:ext cx="6303980" cy="7324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778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025"/>
              <a:buFont typeface="Archivo"/>
              <a:buNone/>
            </a:pPr>
            <a:r>
              <a:rPr b="0" i="0" lang="en-US" sz="2025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The operator. Every action, confirmation and active state.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10820177" y="2568748"/>
            <a:ext cx="6304092" cy="7324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778"/>
              </a:lnSpc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2025"/>
              <a:buFont typeface="Archivo"/>
              <a:buNone/>
            </a:pPr>
            <a:r>
              <a:rPr b="0" i="0" lang="en-US" sz="2025" u="none" cap="none" strike="noStrike">
                <a:solidFill>
                  <a:srgbClr val="6B6478"/>
                </a:solidFill>
                <a:latin typeface="Archivo"/>
                <a:ea typeface="Archivo"/>
                <a:cs typeface="Archivo"/>
                <a:sym typeface="Archivo"/>
              </a:rPr>
              <a:t>Engine surfaces, forecast figures, notification backgrounds.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966351" y="4229403"/>
            <a:ext cx="16355258" cy="13912"/>
          </a:xfrm>
          <a:prstGeom prst="rect">
            <a:avLst/>
          </a:prstGeom>
          <a:solidFill>
            <a:srgbClr val="EDE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1347305" y="3581727"/>
            <a:ext cx="495294" cy="495294"/>
          </a:xfrm>
          <a:prstGeom prst="roundRect">
            <a:avLst>
              <a:gd fmla="val 19231" name="adj"/>
            </a:avLst>
          </a:prstGeom>
          <a:solidFill>
            <a:srgbClr val="0E8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2014001" y="3679764"/>
            <a:ext cx="1036247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#0E8C86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4357004" y="3655744"/>
            <a:ext cx="6732406" cy="3852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778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025"/>
              <a:buFont typeface="Archivo"/>
              <a:buNone/>
            </a:pPr>
            <a:r>
              <a:rPr b="0" i="0" lang="en-US" sz="2025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Almanac as signal. Edges, fills, interval caps.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10820177" y="3655744"/>
            <a:ext cx="6732525" cy="3852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778"/>
              </a:lnSpc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2025"/>
              <a:buFont typeface="Archivo"/>
              <a:buNone/>
            </a:pPr>
            <a:r>
              <a:rPr b="0" i="0" lang="en-US" sz="2025" u="none" cap="none" strike="noStrike">
                <a:solidFill>
                  <a:srgbClr val="6B6478"/>
                </a:solidFill>
                <a:latin typeface="Archivo"/>
                <a:ea typeface="Archivo"/>
                <a:cs typeface="Archivo"/>
                <a:sym typeface="Archivo"/>
              </a:rPr>
              <a:t>Buttons, links, nav, anything clickable — or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966351" y="5242382"/>
            <a:ext cx="16355258" cy="13912"/>
          </a:xfrm>
          <a:prstGeom prst="rect">
            <a:avLst/>
          </a:prstGeom>
          <a:solidFill>
            <a:srgbClr val="EDE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1347305" y="4495147"/>
            <a:ext cx="495294" cy="495294"/>
          </a:xfrm>
          <a:prstGeom prst="roundRect">
            <a:avLst>
              <a:gd fmla="val 19231" name="adj"/>
            </a:avLst>
          </a:prstGeom>
          <a:solidFill>
            <a:srgbClr val="0A5F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2014001" y="4593184"/>
            <a:ext cx="1036247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#0A5F5B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4357004" y="4395697"/>
            <a:ext cx="6303980" cy="7324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778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025"/>
              <a:buFont typeface="Archivo"/>
              <a:buNone/>
            </a:pPr>
            <a:r>
              <a:rPr b="0" i="0" lang="en-US" sz="2025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Almanac as text. Attribution labels, forecast figures, intervals.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10820177" y="4569273"/>
            <a:ext cx="6732525" cy="3852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778"/>
              </a:lnSpc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2025"/>
              <a:buFont typeface="Archivo"/>
              <a:buNone/>
            </a:pPr>
            <a:r>
              <a:rPr b="0" i="0" lang="en-US" sz="2025" u="none" cap="none" strike="noStrike">
                <a:solidFill>
                  <a:srgbClr val="6B6478"/>
                </a:solidFill>
                <a:latin typeface="Archivo"/>
                <a:ea typeface="Archivo"/>
                <a:cs typeface="Archivo"/>
                <a:sym typeface="Archivo"/>
              </a:rPr>
              <a:t>Fills and edges — those stay #0E8C86.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966351" y="6255360"/>
            <a:ext cx="16355258" cy="13912"/>
          </a:xfrm>
          <a:prstGeom prst="rect">
            <a:avLst/>
          </a:prstGeom>
          <a:solidFill>
            <a:srgbClr val="EDE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1347305" y="5508125"/>
            <a:ext cx="495294" cy="495294"/>
          </a:xfrm>
          <a:prstGeom prst="roundRect">
            <a:avLst>
              <a:gd fmla="val 19231" name="adj"/>
            </a:avLst>
          </a:prstGeom>
          <a:solidFill>
            <a:srgbClr val="C03F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2014001" y="5606163"/>
            <a:ext cx="1036247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#C03F44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4357004" y="5408676"/>
            <a:ext cx="6303980" cy="7324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778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025"/>
              <a:buFont typeface="Archivo"/>
              <a:buNone/>
            </a:pPr>
            <a:r>
              <a:rPr b="0" i="0" lang="en-US" sz="2025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The critical weight. Top edge and fills; text goes to #93292F.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10820177" y="5582251"/>
            <a:ext cx="6732525" cy="3852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778"/>
              </a:lnSpc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2025"/>
              <a:buFont typeface="Archivo"/>
              <a:buNone/>
            </a:pPr>
            <a:r>
              <a:rPr b="0" i="0" lang="en-US" sz="2025" u="none" cap="none" strike="noStrike">
                <a:solidFill>
                  <a:srgbClr val="6B6478"/>
                </a:solidFill>
                <a:latin typeface="Archivo"/>
                <a:ea typeface="Archivo"/>
                <a:cs typeface="Archivo"/>
                <a:sym typeface="Archivo"/>
              </a:rPr>
              <a:t>Anything without a CRITICAL label beside it.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1347305" y="6521104"/>
            <a:ext cx="495294" cy="495294"/>
          </a:xfrm>
          <a:prstGeom prst="roundRect">
            <a:avLst>
              <a:gd fmla="val 19231" name="adj"/>
            </a:avLst>
          </a:prstGeom>
          <a:solidFill>
            <a:srgbClr val="BA8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2014001" y="6619141"/>
            <a:ext cx="1036247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#BA8823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4357004" y="6421654"/>
            <a:ext cx="6303980" cy="7324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778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025"/>
              <a:buFont typeface="Archivo"/>
              <a:buNone/>
            </a:pPr>
            <a:r>
              <a:rPr b="0" i="0" lang="en-US" sz="2025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The warning weight. Top edge and fills; text goes to #7C580A.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10820177" y="6595230"/>
            <a:ext cx="6732525" cy="3852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778"/>
              </a:lnSpc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2025"/>
              <a:buFont typeface="Archivo"/>
              <a:buNone/>
            </a:pPr>
            <a:r>
              <a:rPr b="0" i="0" lang="en-US" sz="2025" u="none" cap="none" strike="noStrike">
                <a:solidFill>
                  <a:srgbClr val="6B6478"/>
                </a:solidFill>
                <a:latin typeface="Archivo"/>
                <a:ea typeface="Archivo"/>
                <a:cs typeface="Archivo"/>
                <a:sym typeface="Archivo"/>
              </a:rPr>
              <a:t>Text at any size, and any state Almanac did not raise.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952439" y="7548864"/>
            <a:ext cx="16383081" cy="1514142"/>
          </a:xfrm>
          <a:custGeom>
            <a:rect b="b" l="l" r="r" t="t"/>
            <a:pathLst>
              <a:path extrusionOk="0" h="1514142" w="16383081">
                <a:moveTo>
                  <a:pt x="38100" y="0"/>
                </a:moveTo>
                <a:lnTo>
                  <a:pt x="16230681" y="0"/>
                </a:lnTo>
                <a:cubicBezTo>
                  <a:pt x="16271100" y="0"/>
                  <a:pt x="16309864" y="16056"/>
                  <a:pt x="16338444" y="44637"/>
                </a:cubicBezTo>
                <a:cubicBezTo>
                  <a:pt x="16367025" y="73217"/>
                  <a:pt x="16383081" y="111981"/>
                  <a:pt x="16383081" y="152400"/>
                </a:cubicBezTo>
                <a:lnTo>
                  <a:pt x="16383081" y="1361742"/>
                </a:lnTo>
                <a:cubicBezTo>
                  <a:pt x="16383081" y="1445910"/>
                  <a:pt x="16314849" y="1514142"/>
                  <a:pt x="16230681" y="1514142"/>
                </a:cubicBezTo>
                <a:lnTo>
                  <a:pt x="38100" y="1514142"/>
                </a:lnTo>
                <a:cubicBezTo>
                  <a:pt x="17058" y="1514142"/>
                  <a:pt x="0" y="1497084"/>
                  <a:pt x="0" y="1476042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B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952439" y="7548864"/>
            <a:ext cx="55649" cy="1514142"/>
          </a:xfrm>
          <a:prstGeom prst="rect">
            <a:avLst/>
          </a:prstGeom>
          <a:solidFill>
            <a:srgbClr val="C03F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1312851" y="7758308"/>
            <a:ext cx="17289698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292F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93292F"/>
                </a:solidFill>
                <a:latin typeface="IBM Plex Mono"/>
                <a:ea typeface="IBM Plex Mono"/>
                <a:cs typeface="IBM Plex Mono"/>
                <a:sym typeface="IBM Plex Mono"/>
              </a:rPr>
              <a:t>COLOUR NEVER CARRIES THE STATE ALONE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1312851" y="8133610"/>
            <a:ext cx="16189444" cy="7580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399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025"/>
              <a:buFont typeface="Archivo"/>
              <a:buNone/>
            </a:pPr>
            <a:r>
              <a:rPr b="0" i="0" lang="en-US" sz="2025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Every weight is identified by its label first. The edge colour reinforces the label; it never replaces it. A card with an edge and no label is not a valid state, and the diamond marker is the second channel — shape is what colour cannot take away.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C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"/>
          <p:cNvSpPr/>
          <p:nvPr/>
        </p:nvSpPr>
        <p:spPr>
          <a:xfrm>
            <a:off x="952439" y="952439"/>
            <a:ext cx="18021390" cy="698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Typography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952439" y="2070411"/>
            <a:ext cx="8591645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ARCHIVO 600 — DISPLAY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952439" y="2464734"/>
            <a:ext cx="8591645" cy="7180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851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5100"/>
              <a:buFont typeface="Archivo"/>
              <a:buNone/>
            </a:pPr>
            <a:r>
              <a:rPr b="1" i="0" lang="en-US" sz="51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Know the store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952439" y="3487494"/>
            <a:ext cx="8591645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ARCHIVO 600 — HEADING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952439" y="3881817"/>
            <a:ext cx="8591645" cy="4972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3300"/>
              <a:buFont typeface="Archivo"/>
              <a:buNone/>
            </a:pPr>
            <a:r>
              <a:rPr b="1" i="0" lang="en-US" sz="33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Inventory overview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952439" y="4683722"/>
            <a:ext cx="8591645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ARCHIVO 400 — BODY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952439" y="5078045"/>
            <a:ext cx="8044904" cy="982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4506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400"/>
              <a:buFont typeface="Archivo"/>
              <a:buNone/>
            </a:pPr>
            <a:r>
              <a:rPr b="0" i="0" lang="en-US" sz="24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The engine watches sales velocity, shelf state and supplier lead times, then tells you what it would do.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9524934" y="2070411"/>
            <a:ext cx="8591645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PLEX MONO 500 — LABEL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9524934" y="2464734"/>
            <a:ext cx="8591645" cy="4067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250"/>
              <a:buFont typeface="IBM Plex Mono"/>
              <a:buNone/>
            </a:pPr>
            <a:r>
              <a:rPr b="0" i="0" lang="en-US" sz="2250" u="none" cap="none" strike="noStrike">
                <a:solidFill>
                  <a:srgbClr val="44404F"/>
                </a:solidFill>
                <a:latin typeface="IBM Plex Mono"/>
                <a:ea typeface="IBM Plex Mono"/>
                <a:cs typeface="IBM Plex Mono"/>
                <a:sym typeface="IBM Plex Mono"/>
              </a:rPr>
              <a:t>REORDER POINT · STORE 04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9524934" y="3176210"/>
            <a:ext cx="8591645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PLEX MONO 400 — DATA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9524934" y="3570532"/>
            <a:ext cx="8591645" cy="46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550"/>
              <a:buFont typeface="IBM Plex Mono"/>
              <a:buNone/>
            </a:pPr>
            <a:r>
              <a:rPr b="0" i="0" lang="en-US" sz="2550" u="none" cap="none" strike="noStrike">
                <a:solidFill>
                  <a:srgbClr val="14101F"/>
                </a:solidFill>
                <a:latin typeface="IBM Plex Mono"/>
                <a:ea typeface="IBM Plex Mono"/>
                <a:cs typeface="IBM Plex Mono"/>
                <a:sym typeface="IBM Plex Mono"/>
              </a:rPr>
              <a:t>SKU-40219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9524934" y="4109085"/>
            <a:ext cx="8591645" cy="46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550"/>
              <a:buFont typeface="IBM Plex Mono"/>
              <a:buNone/>
            </a:pPr>
            <a:r>
              <a:rPr b="0" i="0" lang="en-US" sz="2550" u="none" cap="none" strike="noStrike">
                <a:solidFill>
                  <a:srgbClr val="14101F"/>
                </a:solidFill>
                <a:latin typeface="IBM Plex Mono"/>
                <a:ea typeface="IBM Plex Mono"/>
                <a:cs typeface="IBM Plex Mono"/>
                <a:sym typeface="IBM Plex Mono"/>
              </a:rPr>
              <a:t>240 units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9524934" y="4647637"/>
            <a:ext cx="8591645" cy="46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550"/>
              <a:buFont typeface="IBM Plex Mono"/>
              <a:buNone/>
            </a:pPr>
            <a:r>
              <a:rPr b="0" i="0" lang="en-US" sz="2550" u="none" cap="none" strike="noStrike">
                <a:solidFill>
                  <a:srgbClr val="14101F"/>
                </a:solidFill>
                <a:latin typeface="IBM Plex Mono"/>
                <a:ea typeface="IBM Plex Mono"/>
                <a:cs typeface="IBM Plex Mono"/>
                <a:sym typeface="IBM Plex Mono"/>
              </a:rPr>
              <a:t>DZD 18,400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9524934" y="5414762"/>
            <a:ext cx="8044904" cy="12383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6B6478"/>
                </a:solidFill>
                <a:latin typeface="Archivo"/>
                <a:ea typeface="Archivo"/>
                <a:cs typeface="Archivo"/>
                <a:sym typeface="Archivo"/>
              </a:rPr>
              <a:t>Both faces are free on Google Fonts, so the identity carries across app, decks and print without licensing work. The split is load-bearing: Archivo is Waymark, Plex Mono is Almanac.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5"/>
          <p:cNvSpPr/>
          <p:nvPr/>
        </p:nvSpPr>
        <p:spPr>
          <a:xfrm>
            <a:off x="952439" y="952439"/>
            <a:ext cx="18021390" cy="698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In use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952439" y="2032261"/>
            <a:ext cx="7943839" cy="7314206"/>
          </a:xfrm>
          <a:prstGeom prst="roundRect">
            <a:avLst>
              <a:gd fmla="val 2605" name="adj"/>
            </a:avLst>
          </a:prstGeom>
          <a:solidFill>
            <a:srgbClr val="FBFAFC"/>
          </a:solidFill>
          <a:ln cap="flat" cmpd="sng" w="13900">
            <a:solidFill>
              <a:srgbClr val="E4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5"/>
          <p:cNvSpPr/>
          <p:nvPr/>
        </p:nvSpPr>
        <p:spPr>
          <a:xfrm>
            <a:off x="966351" y="2046173"/>
            <a:ext cx="7916015" cy="9852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5"/>
          <p:cNvSpPr/>
          <p:nvPr/>
        </p:nvSpPr>
        <p:spPr>
          <a:xfrm>
            <a:off x="966351" y="3017524"/>
            <a:ext cx="7916015" cy="13912"/>
          </a:xfrm>
          <a:prstGeom prst="rect">
            <a:avLst/>
          </a:prstGeom>
          <a:solidFill>
            <a:srgbClr val="EDE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3" name="Google Shape;3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0135" y="2369848"/>
            <a:ext cx="323784" cy="323784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5"/>
          <p:cNvSpPr/>
          <p:nvPr/>
        </p:nvSpPr>
        <p:spPr>
          <a:xfrm>
            <a:off x="1747175" y="2375175"/>
            <a:ext cx="13578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250"/>
              <a:buFont typeface="Archivo"/>
              <a:buNone/>
            </a:pPr>
            <a:r>
              <a:rPr b="1" i="0" lang="en-US" sz="22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Waymark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3327830" y="2673850"/>
            <a:ext cx="887552" cy="27824"/>
          </a:xfrm>
          <a:prstGeom prst="rect">
            <a:avLst/>
          </a:prstGeom>
          <a:solidFill>
            <a:srgbClr val="5A3A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3327830" y="2361914"/>
            <a:ext cx="963752" cy="3024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3AA8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5A3AA8"/>
                </a:solidFill>
                <a:latin typeface="Archivo"/>
                <a:ea typeface="Archivo"/>
                <a:cs typeface="Archivo"/>
                <a:sym typeface="Archivo"/>
              </a:rPr>
              <a:t>Insights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4501125" y="2361914"/>
            <a:ext cx="1125589" cy="377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6B6478"/>
                </a:solidFill>
                <a:latin typeface="Archivo"/>
                <a:ea typeface="Archivo"/>
                <a:cs typeface="Archivo"/>
                <a:sym typeface="Archivo"/>
              </a:rPr>
              <a:t>Inventory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8120458" y="2312787"/>
            <a:ext cx="438124" cy="438124"/>
          </a:xfrm>
          <a:prstGeom prst="ellipse">
            <a:avLst/>
          </a:prstGeom>
          <a:solidFill>
            <a:srgbClr val="EDE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"/>
          <p:cNvSpPr/>
          <p:nvPr/>
        </p:nvSpPr>
        <p:spPr>
          <a:xfrm>
            <a:off x="8082358" y="2312787"/>
            <a:ext cx="514324" cy="476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1E4E"/>
              </a:buClr>
              <a:buSzPts val="1800"/>
              <a:buFont typeface="Archivo"/>
              <a:buNone/>
            </a:pPr>
            <a:r>
              <a:rPr b="1" i="0" lang="en-US" sz="1800" u="none" cap="none" strike="noStrike">
                <a:solidFill>
                  <a:srgbClr val="2B1E4E"/>
                </a:solidFill>
                <a:latin typeface="Archivo"/>
                <a:ea typeface="Archivo"/>
                <a:cs typeface="Archivo"/>
                <a:sym typeface="Archivo"/>
              </a:rPr>
              <a:t>AB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1290135" y="3374241"/>
            <a:ext cx="7995292" cy="4067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700"/>
              <a:buFont typeface="Archivo"/>
              <a:buNone/>
            </a:pPr>
            <a:r>
              <a:rPr b="1" i="0" lang="en-US" sz="27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Today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1290135" y="3933335"/>
            <a:ext cx="3529448" cy="1305677"/>
          </a:xfrm>
          <a:prstGeom prst="roundRect">
            <a:avLst>
              <a:gd fmla="val 10213" name="adj"/>
            </a:avLst>
          </a:prstGeom>
          <a:solidFill>
            <a:srgbClr val="FFFFFF"/>
          </a:solidFill>
          <a:ln cap="flat" cmpd="sng" w="13900">
            <a:solidFill>
              <a:srgbClr val="E4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5"/>
          <p:cNvSpPr/>
          <p:nvPr/>
        </p:nvSpPr>
        <p:spPr>
          <a:xfrm>
            <a:off x="1475449" y="4118649"/>
            <a:ext cx="3474701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UNITS SOLD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1475449" y="4531993"/>
            <a:ext cx="3474701" cy="559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3150"/>
              <a:buFont typeface="IBM Plex Mono"/>
              <a:buNone/>
            </a:pPr>
            <a:r>
              <a:rPr b="0" i="0" lang="en-US" sz="3150" u="none" cap="none" strike="noStrike">
                <a:solidFill>
                  <a:srgbClr val="14101F"/>
                </a:solidFill>
                <a:latin typeface="IBM Plex Mono"/>
                <a:ea typeface="IBM Plex Mono"/>
                <a:cs typeface="IBM Plex Mono"/>
                <a:sym typeface="IBM Plex Mono"/>
              </a:rPr>
              <a:t>1,284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5029026" y="3933335"/>
            <a:ext cx="3529557" cy="1305677"/>
          </a:xfrm>
          <a:prstGeom prst="roundRect">
            <a:avLst>
              <a:gd fmla="val 10213" name="adj"/>
            </a:avLst>
          </a:prstGeom>
          <a:solidFill>
            <a:srgbClr val="FFFFFF"/>
          </a:solidFill>
          <a:ln cap="flat" cmpd="sng" w="13900">
            <a:solidFill>
              <a:srgbClr val="E4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5"/>
          <p:cNvSpPr/>
          <p:nvPr/>
        </p:nvSpPr>
        <p:spPr>
          <a:xfrm>
            <a:off x="5214340" y="4118649"/>
            <a:ext cx="3474821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F5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A5F5B"/>
                </a:solidFill>
                <a:latin typeface="IBM Plex Mono"/>
                <a:ea typeface="IBM Plex Mono"/>
                <a:cs typeface="IBM Plex Mono"/>
                <a:sym typeface="IBM Plex Mono"/>
              </a:rPr>
              <a:t>INSIGHTS OPEN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5214340" y="4531993"/>
            <a:ext cx="3474821" cy="559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F5B"/>
              </a:buClr>
              <a:buSzPts val="3150"/>
              <a:buFont typeface="IBM Plex Mono"/>
              <a:buNone/>
            </a:pPr>
            <a:r>
              <a:rPr b="0" i="0" lang="en-US" sz="3150" u="none" cap="none" strike="noStrike">
                <a:solidFill>
                  <a:srgbClr val="0A5F5B"/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1290135" y="5429435"/>
            <a:ext cx="7268448" cy="1759344"/>
          </a:xfrm>
          <a:custGeom>
            <a:rect b="b" l="l" r="r" t="t"/>
            <a:pathLst>
              <a:path extrusionOk="0" h="1759344" w="7268448">
                <a:moveTo>
                  <a:pt x="57150" y="0"/>
                </a:moveTo>
                <a:lnTo>
                  <a:pt x="7211298" y="0"/>
                </a:lnTo>
                <a:cubicBezTo>
                  <a:pt x="7226455" y="0"/>
                  <a:pt x="7240991" y="6021"/>
                  <a:pt x="7251709" y="16739"/>
                </a:cubicBezTo>
                <a:cubicBezTo>
                  <a:pt x="7262427" y="27457"/>
                  <a:pt x="7268448" y="41993"/>
                  <a:pt x="7268448" y="57150"/>
                </a:cubicBezTo>
                <a:lnTo>
                  <a:pt x="7268448" y="1625994"/>
                </a:lnTo>
                <a:cubicBezTo>
                  <a:pt x="7268448" y="1699641"/>
                  <a:pt x="7208745" y="1759344"/>
                  <a:pt x="7135098" y="1759344"/>
                </a:cubicBezTo>
                <a:lnTo>
                  <a:pt x="133350" y="1759344"/>
                </a:lnTo>
                <a:cubicBezTo>
                  <a:pt x="59703" y="1759344"/>
                  <a:pt x="0" y="1699641"/>
                  <a:pt x="0" y="1625994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5"/>
          <p:cNvSpPr/>
          <p:nvPr/>
        </p:nvSpPr>
        <p:spPr>
          <a:xfrm>
            <a:off x="1290135" y="7174867"/>
            <a:ext cx="7268448" cy="13912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5"/>
          <p:cNvSpPr/>
          <p:nvPr/>
        </p:nvSpPr>
        <p:spPr>
          <a:xfrm>
            <a:off x="1290135" y="5429435"/>
            <a:ext cx="7268448" cy="55649"/>
          </a:xfrm>
          <a:prstGeom prst="rect">
            <a:avLst/>
          </a:prstGeom>
          <a:solidFill>
            <a:srgbClr val="0E8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5"/>
          <p:cNvSpPr/>
          <p:nvPr/>
        </p:nvSpPr>
        <p:spPr>
          <a:xfrm>
            <a:off x="1290135" y="5429435"/>
            <a:ext cx="13912" cy="1759344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5"/>
          <p:cNvSpPr/>
          <p:nvPr/>
        </p:nvSpPr>
        <p:spPr>
          <a:xfrm>
            <a:off x="8544670" y="5429435"/>
            <a:ext cx="13912" cy="1759344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5"/>
          <p:cNvSpPr/>
          <p:nvPr/>
        </p:nvSpPr>
        <p:spPr>
          <a:xfrm>
            <a:off x="1513490" y="5694527"/>
            <a:ext cx="7503911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F5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A5F5B"/>
                </a:solidFill>
                <a:latin typeface="IBM Plex Mono"/>
                <a:ea typeface="IBM Plex Mono"/>
                <a:cs typeface="IBM Plex Mono"/>
                <a:sym typeface="IBM Plex Mono"/>
              </a:rPr>
              <a:t>ALMANAC · FORECAST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1513490" y="6126891"/>
            <a:ext cx="7503911" cy="4234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673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250"/>
              <a:buFont typeface="Archivo"/>
              <a:buNone/>
            </a:pPr>
            <a:r>
              <a:rPr b="1" i="0" lang="en-US" sz="22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Lait Candia 1L runs out in </a:t>
            </a:r>
            <a:r>
              <a:rPr b="0" i="0" lang="en-US" sz="2250" u="none" cap="none" strike="noStrike">
                <a:solidFill>
                  <a:srgbClr val="14101F"/>
                </a:solidFill>
                <a:latin typeface="IBM Plex Mono"/>
                <a:ea typeface="IBM Plex Mono"/>
                <a:cs typeface="IBM Plex Mono"/>
                <a:sym typeface="IBM Plex Mono"/>
              </a:rPr>
              <a:t>3 days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1513490" y="6645444"/>
            <a:ext cx="7503911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Suggested reorder </a:t>
            </a:r>
            <a:r>
              <a:rPr b="0" i="0" lang="en-US" sz="1950" u="none" cap="none" strike="noStrike">
                <a:solidFill>
                  <a:srgbClr val="44404F"/>
                </a:solidFill>
                <a:latin typeface="IBM Plex Mono"/>
                <a:ea typeface="IBM Plex Mono"/>
                <a:cs typeface="IBM Plex Mono"/>
                <a:sym typeface="IBM Plex Mono"/>
              </a:rPr>
              <a:t>240 units</a:t>
            </a:r>
            <a:r>
              <a:rPr b="0" i="0" lang="en-US" sz="19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, range </a:t>
            </a:r>
            <a:r>
              <a:rPr b="0" i="0" lang="en-US" sz="1950" u="none" cap="none" strike="noStrike">
                <a:solidFill>
                  <a:srgbClr val="44404F"/>
                </a:solidFill>
                <a:latin typeface="IBM Plex Mono"/>
                <a:ea typeface="IBM Plex Mono"/>
                <a:cs typeface="IBM Plex Mono"/>
                <a:sym typeface="IBM Plex Mono"/>
              </a:rPr>
              <a:t>205–280</a:t>
            </a:r>
            <a:r>
              <a:rPr b="0" i="0" lang="en-US" sz="19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1290135" y="7906776"/>
            <a:ext cx="7268448" cy="13912"/>
          </a:xfrm>
          <a:prstGeom prst="rect">
            <a:avLst/>
          </a:prstGeom>
          <a:solidFill>
            <a:srgbClr val="EDE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5"/>
          <p:cNvSpPr/>
          <p:nvPr/>
        </p:nvSpPr>
        <p:spPr>
          <a:xfrm>
            <a:off x="1328176" y="7493433"/>
            <a:ext cx="1357815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SKU-40219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8109046" y="7493433"/>
            <a:ext cx="487695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240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1290135" y="8448264"/>
            <a:ext cx="7268448" cy="13912"/>
          </a:xfrm>
          <a:prstGeom prst="rect">
            <a:avLst/>
          </a:prstGeom>
          <a:solidFill>
            <a:srgbClr val="EDE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5"/>
          <p:cNvSpPr/>
          <p:nvPr/>
        </p:nvSpPr>
        <p:spPr>
          <a:xfrm>
            <a:off x="1328176" y="8034921"/>
            <a:ext cx="1357815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SKU-40873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8246211" y="8034921"/>
            <a:ext cx="350530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96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1328176" y="8576407"/>
            <a:ext cx="1357815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SKU-41120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8246211" y="8576407"/>
            <a:ext cx="350530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9391573" y="2032261"/>
            <a:ext cx="7943948" cy="7314206"/>
          </a:xfrm>
          <a:prstGeom prst="roundRect">
            <a:avLst>
              <a:gd fmla="val 2605" name="adj"/>
            </a:avLst>
          </a:prstGeom>
          <a:solidFill>
            <a:srgbClr val="1410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5"/>
          <p:cNvSpPr/>
          <p:nvPr/>
        </p:nvSpPr>
        <p:spPr>
          <a:xfrm>
            <a:off x="9391573" y="3003612"/>
            <a:ext cx="7943948" cy="13912"/>
          </a:xfrm>
          <a:prstGeom prst="rect">
            <a:avLst/>
          </a:prstGeom>
          <a:solidFill>
            <a:srgbClr val="2B2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5" name="Google Shape;35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5356" y="2355936"/>
            <a:ext cx="323784" cy="323784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5"/>
          <p:cNvSpPr/>
          <p:nvPr/>
        </p:nvSpPr>
        <p:spPr>
          <a:xfrm>
            <a:off x="10172400" y="2361250"/>
            <a:ext cx="13578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chivo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Waymark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11753052" y="2659938"/>
            <a:ext cx="887552" cy="27824"/>
          </a:xfrm>
          <a:prstGeom prst="rect">
            <a:avLst/>
          </a:prstGeom>
          <a:solidFill>
            <a:srgbClr val="9B5C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11753052" y="2348002"/>
            <a:ext cx="963752" cy="3024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B6EE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C6B6EE"/>
                </a:solidFill>
                <a:latin typeface="Archivo"/>
                <a:ea typeface="Archivo"/>
                <a:cs typeface="Archivo"/>
                <a:sym typeface="Archivo"/>
              </a:rPr>
              <a:t>Insights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12926346" y="2348002"/>
            <a:ext cx="1125589" cy="377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7C99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857C99"/>
                </a:solidFill>
                <a:latin typeface="Archivo"/>
                <a:ea typeface="Archivo"/>
                <a:cs typeface="Archivo"/>
                <a:sym typeface="Archivo"/>
              </a:rPr>
              <a:t>Inventory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16573613" y="2298875"/>
            <a:ext cx="438124" cy="438124"/>
          </a:xfrm>
          <a:prstGeom prst="ellipse">
            <a:avLst/>
          </a:prstGeom>
          <a:solidFill>
            <a:srgbClr val="2B1E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16535513" y="2298875"/>
            <a:ext cx="514324" cy="476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E7FA"/>
              </a:buClr>
              <a:buSzPts val="1800"/>
              <a:buFont typeface="Archivo"/>
              <a:buNone/>
            </a:pPr>
            <a:r>
              <a:rPr b="1" i="0" lang="en-US" sz="1800" u="none" cap="none" strike="noStrike">
                <a:solidFill>
                  <a:srgbClr val="EDE7FA"/>
                </a:solidFill>
                <a:latin typeface="Archivo"/>
                <a:ea typeface="Archivo"/>
                <a:cs typeface="Archivo"/>
                <a:sym typeface="Archivo"/>
              </a:rPr>
              <a:t>AB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9715356" y="3360328"/>
            <a:ext cx="8026019" cy="4067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chivo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Today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9715356" y="3919423"/>
            <a:ext cx="3543469" cy="1305677"/>
          </a:xfrm>
          <a:prstGeom prst="roundRect">
            <a:avLst>
              <a:gd fmla="val 10213" name="adj"/>
            </a:avLst>
          </a:prstGeom>
          <a:noFill/>
          <a:ln cap="flat" cmpd="sng" w="13900">
            <a:solidFill>
              <a:srgbClr val="2B24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9900670" y="4104737"/>
            <a:ext cx="3490124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7C99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857C99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UNITS SOLD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9900670" y="4518080"/>
            <a:ext cx="3490124" cy="559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IBM Plex Mono"/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1,284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13468269" y="3919423"/>
            <a:ext cx="3543469" cy="1305677"/>
          </a:xfrm>
          <a:prstGeom prst="roundRect">
            <a:avLst>
              <a:gd fmla="val 10213" name="adj"/>
            </a:avLst>
          </a:prstGeom>
          <a:noFill/>
          <a:ln cap="flat" cmpd="sng" w="13900">
            <a:solidFill>
              <a:srgbClr val="2B24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13653583" y="4104737"/>
            <a:ext cx="3490124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D0CA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73D0CA"/>
                </a:solidFill>
                <a:latin typeface="IBM Plex Mono"/>
                <a:ea typeface="IBM Plex Mono"/>
                <a:cs typeface="IBM Plex Mono"/>
                <a:sym typeface="IBM Plex Mono"/>
              </a:rPr>
              <a:t>INSIGHTS OPEN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13653583" y="4518080"/>
            <a:ext cx="3490124" cy="559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D0CA"/>
              </a:buClr>
              <a:buSzPts val="3150"/>
              <a:buFont typeface="IBM Plex Mono"/>
              <a:buNone/>
            </a:pPr>
            <a:r>
              <a:rPr b="0" i="0" lang="en-US" sz="3150" u="none" cap="none" strike="noStrike">
                <a:solidFill>
                  <a:srgbClr val="73D0CA"/>
                </a:solidFill>
                <a:latin typeface="IBM Plex Mono"/>
                <a:ea typeface="IBM Plex Mono"/>
                <a:cs typeface="IBM Plex Mono"/>
                <a:sym typeface="IBM Plex Mono"/>
              </a:rPr>
              <a:t>3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9715356" y="5415523"/>
            <a:ext cx="7296381" cy="1759344"/>
          </a:xfrm>
          <a:custGeom>
            <a:rect b="b" l="l" r="r" t="t"/>
            <a:pathLst>
              <a:path extrusionOk="0" h="1759344" w="7296381">
                <a:moveTo>
                  <a:pt x="57150" y="0"/>
                </a:moveTo>
                <a:lnTo>
                  <a:pt x="7239231" y="0"/>
                </a:lnTo>
                <a:cubicBezTo>
                  <a:pt x="7254388" y="0"/>
                  <a:pt x="7268924" y="6021"/>
                  <a:pt x="7279642" y="16739"/>
                </a:cubicBezTo>
                <a:cubicBezTo>
                  <a:pt x="7290360" y="27457"/>
                  <a:pt x="7296381" y="41993"/>
                  <a:pt x="7296381" y="57150"/>
                </a:cubicBezTo>
                <a:lnTo>
                  <a:pt x="7296381" y="1625994"/>
                </a:lnTo>
                <a:cubicBezTo>
                  <a:pt x="7296381" y="1699641"/>
                  <a:pt x="7236678" y="1759344"/>
                  <a:pt x="7163031" y="1759344"/>
                </a:cubicBezTo>
                <a:lnTo>
                  <a:pt x="133350" y="1759344"/>
                </a:lnTo>
                <a:cubicBezTo>
                  <a:pt x="59703" y="1759344"/>
                  <a:pt x="0" y="1699641"/>
                  <a:pt x="0" y="1625994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C17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9715356" y="7160955"/>
            <a:ext cx="7296381" cy="13912"/>
          </a:xfrm>
          <a:prstGeom prst="rect">
            <a:avLst/>
          </a:prstGeom>
          <a:solidFill>
            <a:srgbClr val="2B2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9715356" y="5415523"/>
            <a:ext cx="7296381" cy="55649"/>
          </a:xfrm>
          <a:prstGeom prst="rect">
            <a:avLst/>
          </a:prstGeom>
          <a:solidFill>
            <a:srgbClr val="0E8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9715356" y="5415523"/>
            <a:ext cx="13912" cy="1759344"/>
          </a:xfrm>
          <a:prstGeom prst="rect">
            <a:avLst/>
          </a:prstGeom>
          <a:solidFill>
            <a:srgbClr val="2B2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16997825" y="5415523"/>
            <a:ext cx="13912" cy="1759344"/>
          </a:xfrm>
          <a:prstGeom prst="rect">
            <a:avLst/>
          </a:prstGeom>
          <a:solidFill>
            <a:srgbClr val="2B2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9938712" y="5680614"/>
            <a:ext cx="7534637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D0CA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73D0CA"/>
                </a:solidFill>
                <a:latin typeface="IBM Plex Mono"/>
                <a:ea typeface="IBM Plex Mono"/>
                <a:cs typeface="IBM Plex Mono"/>
                <a:sym typeface="IBM Plex Mono"/>
              </a:rPr>
              <a:t>ALMANAC · FORECAST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9938712" y="6112978"/>
            <a:ext cx="7534637" cy="4234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67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chivo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Lait Candia 1L runs out in </a:t>
            </a:r>
            <a:r>
              <a:rPr b="0" i="0" lang="en-US" sz="2250" u="none" cap="none" strike="noStrike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3 days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9938712" y="6631532"/>
            <a:ext cx="7534637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AEC4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B5AEC4"/>
                </a:solidFill>
                <a:latin typeface="Archivo"/>
                <a:ea typeface="Archivo"/>
                <a:cs typeface="Archivo"/>
                <a:sym typeface="Archivo"/>
              </a:rPr>
              <a:t>Suggested reorder </a:t>
            </a:r>
            <a:r>
              <a:rPr b="0" i="0" lang="en-US" sz="1950" u="none" cap="none" strike="noStrike">
                <a:solidFill>
                  <a:srgbClr val="B5AEC4"/>
                </a:solidFill>
                <a:latin typeface="IBM Plex Mono"/>
                <a:ea typeface="IBM Plex Mono"/>
                <a:cs typeface="IBM Plex Mono"/>
                <a:sym typeface="IBM Plex Mono"/>
              </a:rPr>
              <a:t>240 units</a:t>
            </a:r>
            <a:r>
              <a:rPr b="0" i="0" lang="en-US" sz="1950" u="none" cap="none" strike="noStrike">
                <a:solidFill>
                  <a:srgbClr val="B5AEC4"/>
                </a:solidFill>
                <a:latin typeface="Archivo"/>
                <a:ea typeface="Archivo"/>
                <a:cs typeface="Archivo"/>
                <a:sym typeface="Archivo"/>
              </a:rPr>
              <a:t>, range </a:t>
            </a:r>
            <a:r>
              <a:rPr b="0" i="0" lang="en-US" sz="1950" u="none" cap="none" strike="noStrike">
                <a:solidFill>
                  <a:srgbClr val="B5AEC4"/>
                </a:solidFill>
                <a:latin typeface="IBM Plex Mono"/>
                <a:ea typeface="IBM Plex Mono"/>
                <a:cs typeface="IBM Plex Mono"/>
                <a:sym typeface="IBM Plex Mono"/>
              </a:rPr>
              <a:t>205–280</a:t>
            </a:r>
            <a:r>
              <a:rPr b="0" i="0" lang="en-US" sz="1950" u="none" cap="none" strike="noStrike">
                <a:solidFill>
                  <a:srgbClr val="B5AEC4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9715356" y="7892864"/>
            <a:ext cx="7296381" cy="13912"/>
          </a:xfrm>
          <a:prstGeom prst="rect">
            <a:avLst/>
          </a:prstGeom>
          <a:solidFill>
            <a:srgbClr val="2B2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9753397" y="7479521"/>
            <a:ext cx="1357815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7C99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857C99"/>
                </a:solidFill>
                <a:latin typeface="IBM Plex Mono"/>
                <a:ea typeface="IBM Plex Mono"/>
                <a:cs typeface="IBM Plex Mono"/>
                <a:sym typeface="IBM Plex Mono"/>
              </a:rPr>
              <a:t>SKU-40219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16562201" y="7479521"/>
            <a:ext cx="487695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7C99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857C99"/>
                </a:solidFill>
                <a:latin typeface="IBM Plex Mono"/>
                <a:ea typeface="IBM Plex Mono"/>
                <a:cs typeface="IBM Plex Mono"/>
                <a:sym typeface="IBM Plex Mono"/>
              </a:rPr>
              <a:t>240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9715356" y="8434351"/>
            <a:ext cx="7296381" cy="13912"/>
          </a:xfrm>
          <a:prstGeom prst="rect">
            <a:avLst/>
          </a:prstGeom>
          <a:solidFill>
            <a:srgbClr val="2B24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9753397" y="8021008"/>
            <a:ext cx="1357815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7C99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857C99"/>
                </a:solidFill>
                <a:latin typeface="IBM Plex Mono"/>
                <a:ea typeface="IBM Plex Mono"/>
                <a:cs typeface="IBM Plex Mono"/>
                <a:sym typeface="IBM Plex Mono"/>
              </a:rPr>
              <a:t>SKU-40873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16699366" y="8021008"/>
            <a:ext cx="350530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7C99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857C99"/>
                </a:solidFill>
                <a:latin typeface="IBM Plex Mono"/>
                <a:ea typeface="IBM Plex Mono"/>
                <a:cs typeface="IBM Plex Mono"/>
                <a:sym typeface="IBM Plex Mono"/>
              </a:rPr>
              <a:t>96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9753397" y="8562495"/>
            <a:ext cx="1357815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7C99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857C99"/>
                </a:solidFill>
                <a:latin typeface="IBM Plex Mono"/>
                <a:ea typeface="IBM Plex Mono"/>
                <a:cs typeface="IBM Plex Mono"/>
                <a:sym typeface="IBM Plex Mono"/>
              </a:rPr>
              <a:t>SKU-41120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16699366" y="8562495"/>
            <a:ext cx="350530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7C99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857C99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1E4E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6"/>
          <p:cNvSpPr/>
          <p:nvPr/>
        </p:nvSpPr>
        <p:spPr>
          <a:xfrm>
            <a:off x="952439" y="952439"/>
            <a:ext cx="18021390" cy="698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App icon and tab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952439" y="3835624"/>
            <a:ext cx="1904987" cy="1904987"/>
          </a:xfrm>
          <a:prstGeom prst="roundRect">
            <a:avLst>
              <a:gd fmla="val 23000" name="adj"/>
            </a:avLst>
          </a:prstGeom>
          <a:solidFill>
            <a:srgbClr val="1410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2" name="Google Shape;39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28" y="4283313"/>
            <a:ext cx="1009609" cy="1009609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6"/>
          <p:cNvSpPr/>
          <p:nvPr/>
        </p:nvSpPr>
        <p:spPr>
          <a:xfrm>
            <a:off x="3390761" y="4073761"/>
            <a:ext cx="1428713" cy="1428713"/>
          </a:xfrm>
          <a:prstGeom prst="roundRect">
            <a:avLst>
              <a:gd fmla="val 22667" name="adj"/>
            </a:avLst>
          </a:prstGeom>
          <a:solidFill>
            <a:srgbClr val="5A3A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4" name="Google Shape;39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4109" y="4407109"/>
            <a:ext cx="761908" cy="761908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6"/>
          <p:cNvSpPr/>
          <p:nvPr/>
        </p:nvSpPr>
        <p:spPr>
          <a:xfrm>
            <a:off x="5352809" y="4283313"/>
            <a:ext cx="1009609" cy="100960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6" name="Google Shape;39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0947" y="4521450"/>
            <a:ext cx="533335" cy="53333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6"/>
          <p:cNvSpPr/>
          <p:nvPr/>
        </p:nvSpPr>
        <p:spPr>
          <a:xfrm>
            <a:off x="7276708" y="4369177"/>
            <a:ext cx="4718068" cy="837881"/>
          </a:xfrm>
          <a:custGeom>
            <a:rect b="b" l="l" r="r" t="t"/>
            <a:pathLst>
              <a:path extrusionOk="0" h="837881" w="4718068">
                <a:moveTo>
                  <a:pt x="171450" y="0"/>
                </a:moveTo>
                <a:lnTo>
                  <a:pt x="4546618" y="0"/>
                </a:lnTo>
                <a:cubicBezTo>
                  <a:pt x="4592089" y="0"/>
                  <a:pt x="4635698" y="18063"/>
                  <a:pt x="4667851" y="50217"/>
                </a:cubicBezTo>
                <a:cubicBezTo>
                  <a:pt x="4700005" y="82370"/>
                  <a:pt x="4718068" y="125979"/>
                  <a:pt x="4718068" y="171450"/>
                </a:cubicBezTo>
                <a:lnTo>
                  <a:pt x="4718068" y="837881"/>
                </a:lnTo>
                <a:lnTo>
                  <a:pt x="0" y="837881"/>
                </a:ln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9E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6"/>
          <p:cNvSpPr/>
          <p:nvPr/>
        </p:nvSpPr>
        <p:spPr>
          <a:xfrm>
            <a:off x="7429090" y="4521558"/>
            <a:ext cx="3270443" cy="685500"/>
          </a:xfrm>
          <a:custGeom>
            <a:rect b="b" l="l" r="r" t="t"/>
            <a:pathLst>
              <a:path extrusionOk="0" h="685500" w="3270443">
                <a:moveTo>
                  <a:pt x="133350" y="0"/>
                </a:moveTo>
                <a:lnTo>
                  <a:pt x="3137093" y="0"/>
                </a:lnTo>
                <a:cubicBezTo>
                  <a:pt x="3172460" y="0"/>
                  <a:pt x="3206378" y="14049"/>
                  <a:pt x="3231386" y="39057"/>
                </a:cubicBezTo>
                <a:cubicBezTo>
                  <a:pt x="3256394" y="64065"/>
                  <a:pt x="3270443" y="97983"/>
                  <a:pt x="3270443" y="133350"/>
                </a:cubicBezTo>
                <a:lnTo>
                  <a:pt x="3270443" y="685500"/>
                </a:lnTo>
                <a:lnTo>
                  <a:pt x="0" y="685500"/>
                </a:ln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9" name="Google Shape;39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33853" y="4731001"/>
            <a:ext cx="266613" cy="266613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6"/>
          <p:cNvSpPr/>
          <p:nvPr/>
        </p:nvSpPr>
        <p:spPr>
          <a:xfrm>
            <a:off x="8152848" y="4732088"/>
            <a:ext cx="2466114" cy="3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Waymark — Insights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10813764" y="4521558"/>
            <a:ext cx="1028630" cy="685500"/>
          </a:xfrm>
          <a:custGeom>
            <a:rect b="b" l="l" r="r" t="t"/>
            <a:pathLst>
              <a:path extrusionOk="0" h="685500" w="1028630">
                <a:moveTo>
                  <a:pt x="133350" y="0"/>
                </a:moveTo>
                <a:lnTo>
                  <a:pt x="895280" y="0"/>
                </a:lnTo>
                <a:cubicBezTo>
                  <a:pt x="930647" y="0"/>
                  <a:pt x="964565" y="14049"/>
                  <a:pt x="989573" y="39057"/>
                </a:cubicBezTo>
                <a:cubicBezTo>
                  <a:pt x="1014581" y="64065"/>
                  <a:pt x="1028630" y="97983"/>
                  <a:pt x="1028630" y="133350"/>
                </a:cubicBezTo>
                <a:lnTo>
                  <a:pt x="1028630" y="685500"/>
                </a:lnTo>
                <a:lnTo>
                  <a:pt x="0" y="685500"/>
                </a:ln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DCD9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6"/>
          <p:cNvSpPr/>
          <p:nvPr/>
        </p:nvSpPr>
        <p:spPr>
          <a:xfrm>
            <a:off x="952439" y="7963077"/>
            <a:ext cx="11772817" cy="14095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844"/>
              </a:lnSpc>
              <a:spcBef>
                <a:spcPts val="0"/>
              </a:spcBef>
              <a:spcAft>
                <a:spcPts val="0"/>
              </a:spcAft>
              <a:buClr>
                <a:srgbClr val="C6B6EE"/>
              </a:buClr>
              <a:buSzPts val="2400"/>
              <a:buFont typeface="Archivo"/>
              <a:buNone/>
            </a:pPr>
            <a:r>
              <a:rPr b="0" i="0" lang="en-US" sz="2400" u="none" cap="none" strike="noStrike">
                <a:solidFill>
                  <a:srgbClr val="C6B6EE"/>
                </a:solidFill>
                <a:latin typeface="Archivo"/>
                <a:ea typeface="Archivo"/>
                <a:cs typeface="Archivo"/>
                <a:sym typeface="Archivo"/>
              </a:rPr>
              <a:t>The mark holds from a 76px app tile down to a 16px favicon without being redrawn. Tiles use ink indigo or royal violet; the white circle is for dark photography and merch. Almanac never gets a tile of its own.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1E4E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7"/>
          <p:cNvSpPr/>
          <p:nvPr/>
        </p:nvSpPr>
        <p:spPr>
          <a:xfrm>
            <a:off x="952439" y="952439"/>
            <a:ext cx="1802139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7FD4"/>
              </a:buClr>
              <a:buSzPts val="1950"/>
              <a:buFont typeface="IBM Plex Mono"/>
              <a:buNone/>
            </a:pPr>
            <a:r>
              <a:rPr b="0" i="0" lang="en-US" sz="1950" u="none" cap="none" strike="noStrike">
                <a:solidFill>
                  <a:srgbClr val="9B7FD4"/>
                </a:solidFill>
                <a:latin typeface="IBM Plex Mono"/>
                <a:ea typeface="IBM Plex Mono"/>
                <a:cs typeface="IBM Plex Mono"/>
                <a:sym typeface="IBM Plex Mono"/>
              </a:rPr>
              <a:t>PART TWO · THE ENGINE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9" name="Google Shape;4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439" y="4042024"/>
            <a:ext cx="761908" cy="761908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7"/>
          <p:cNvSpPr/>
          <p:nvPr/>
        </p:nvSpPr>
        <p:spPr>
          <a:xfrm>
            <a:off x="1985350" y="3921050"/>
            <a:ext cx="4011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9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Archivo"/>
              <a:buNone/>
            </a:pPr>
            <a:r>
              <a:rPr b="1" i="0" lang="en-US" sz="69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Waymark</a:t>
            </a:r>
            <a:endParaRPr b="0" i="0" sz="6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6092163" y="4118203"/>
            <a:ext cx="18900" cy="609600"/>
          </a:xfrm>
          <a:prstGeom prst="rect">
            <a:avLst/>
          </a:prstGeom>
          <a:solidFill>
            <a:srgbClr val="73D0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7"/>
          <p:cNvSpPr/>
          <p:nvPr/>
        </p:nvSpPr>
        <p:spPr>
          <a:xfrm>
            <a:off x="6267642" y="4184841"/>
            <a:ext cx="2786887" cy="5143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927"/>
              </a:lnSpc>
              <a:spcBef>
                <a:spcPts val="0"/>
              </a:spcBef>
              <a:spcAft>
                <a:spcPts val="0"/>
              </a:spcAft>
              <a:buClr>
                <a:srgbClr val="73D0CA"/>
              </a:buClr>
              <a:buSzPts val="3750"/>
              <a:buFont typeface="IBM Plex Mono"/>
              <a:buNone/>
            </a:pPr>
            <a:r>
              <a:rPr b="0" i="0" lang="en-US" sz="3750" u="none" cap="none" strike="noStrike">
                <a:solidFill>
                  <a:srgbClr val="73D0CA"/>
                </a:solidFill>
                <a:latin typeface="IBM Plex Mono"/>
                <a:ea typeface="IBM Plex Mono"/>
                <a:cs typeface="IBM Plex Mono"/>
                <a:sym typeface="IBM Plex Mono"/>
              </a:rPr>
              <a:t>ALMANAC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952439" y="5280097"/>
            <a:ext cx="18021390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B6EE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C6B6EE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 &amp; ORDERING ENGINE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952439" y="8340227"/>
            <a:ext cx="12263380" cy="103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864"/>
              </a:lnSpc>
              <a:spcBef>
                <a:spcPts val="0"/>
              </a:spcBef>
              <a:spcAft>
                <a:spcPts val="0"/>
              </a:spcAft>
              <a:buClr>
                <a:srgbClr val="C6B6EE"/>
              </a:buClr>
              <a:buSzPts val="2700"/>
              <a:buFont typeface="Archivo"/>
              <a:buNone/>
            </a:pPr>
            <a:r>
              <a:rPr b="0" i="0" lang="en-US" sz="2700" u="none" cap="none" strike="noStrike">
                <a:solidFill>
                  <a:srgbClr val="C6B6EE"/>
                </a:solidFill>
                <a:latin typeface="Archivo"/>
                <a:ea typeface="Archivo"/>
                <a:cs typeface="Archivo"/>
                <a:sym typeface="Archivo"/>
              </a:rPr>
              <a:t>The intelligence layer inside Waymark. No second palette, no second voice, no separate deck — a component of one identity.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C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8"/>
          <p:cNvSpPr/>
          <p:nvPr/>
        </p:nvSpPr>
        <p:spPr>
          <a:xfrm>
            <a:off x="952439" y="952439"/>
            <a:ext cx="18021390" cy="698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Almanac is the right name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952439" y="2146602"/>
            <a:ext cx="14225517" cy="10323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864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700"/>
              <a:buFont typeface="Archivo"/>
              <a:buNone/>
            </a:pPr>
            <a:r>
              <a:rPr b="0" i="0" lang="en-US" sz="27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An almanac is a record of what happened, arranged so a forecast can be read from it — and it was always advisory. Farmers read the almanac, then decided when to plant.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8"/>
          <p:cNvSpPr/>
          <p:nvPr/>
        </p:nvSpPr>
        <p:spPr>
          <a:xfrm>
            <a:off x="952439" y="3674221"/>
            <a:ext cx="5232491" cy="5660290"/>
          </a:xfrm>
          <a:prstGeom prst="roundRect">
            <a:avLst>
              <a:gd fmla="val 3277" name="adj"/>
            </a:avLst>
          </a:prstGeom>
          <a:solidFill>
            <a:srgbClr val="FFFFFF"/>
          </a:solidFill>
          <a:ln cap="flat" cmpd="sng" w="13900">
            <a:solidFill>
              <a:srgbClr val="E4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8"/>
          <p:cNvSpPr/>
          <p:nvPr/>
        </p:nvSpPr>
        <p:spPr>
          <a:xfrm>
            <a:off x="1385346" y="4107128"/>
            <a:ext cx="4803345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F5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A5F5B"/>
                </a:solidFill>
                <a:latin typeface="IBM Plex Mono"/>
                <a:ea typeface="IBM Plex Mono"/>
                <a:cs typeface="IBM Plex Mono"/>
                <a:sym typeface="IBM Plex Mono"/>
              </a:rPr>
              <a:t>WHY IT WORKS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1385346" y="4596662"/>
            <a:ext cx="4497677" cy="89521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262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700"/>
              <a:buFont typeface="Archivo"/>
              <a:buNone/>
            </a:pPr>
            <a:r>
              <a:rPr b="1" i="0" lang="en-US" sz="27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It promises records, not magic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1385346" y="5644204"/>
            <a:ext cx="4497677" cy="16384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Nothing in the word claims autonomy. It claims observation, kept over time — a credible promise, and an easy one to keep.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6527734" y="3674221"/>
            <a:ext cx="5232491" cy="5660290"/>
          </a:xfrm>
          <a:prstGeom prst="roundRect">
            <a:avLst>
              <a:gd fmla="val 3277" name="adj"/>
            </a:avLst>
          </a:prstGeom>
          <a:solidFill>
            <a:srgbClr val="FFFFFF"/>
          </a:solidFill>
          <a:ln cap="flat" cmpd="sng" w="13900">
            <a:solidFill>
              <a:srgbClr val="E4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8"/>
          <p:cNvSpPr/>
          <p:nvPr/>
        </p:nvSpPr>
        <p:spPr>
          <a:xfrm>
            <a:off x="6960641" y="4107128"/>
            <a:ext cx="4803345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F5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A5F5B"/>
                </a:solidFill>
                <a:latin typeface="IBM Plex Mono"/>
                <a:ea typeface="IBM Plex Mono"/>
                <a:cs typeface="IBM Plex Mono"/>
                <a:sym typeface="IBM Plex Mono"/>
              </a:rPr>
              <a:t>WHY IT FITS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6960641" y="4596662"/>
            <a:ext cx="4803345" cy="4666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262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700"/>
              <a:buFont typeface="Archivo"/>
              <a:buNone/>
            </a:pPr>
            <a:r>
              <a:rPr b="1" i="0" lang="en-US" sz="27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Two calm, old words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/>
          <p:nvPr/>
        </p:nvSpPr>
        <p:spPr>
          <a:xfrm>
            <a:off x="6960641" y="5215644"/>
            <a:ext cx="4497677" cy="16384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Waymark and Almanac are both plain concrete nouns. Neither sounds like a 2020s AI product, which is what keeps the pair sophisticated.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12103030" y="3674221"/>
            <a:ext cx="5232491" cy="5660290"/>
          </a:xfrm>
          <a:prstGeom prst="roundRect">
            <a:avLst>
              <a:gd fmla="val 3277" name="adj"/>
            </a:avLst>
          </a:prstGeom>
          <a:solidFill>
            <a:srgbClr val="FFFFFF"/>
          </a:solidFill>
          <a:ln cap="flat" cmpd="sng" w="13900">
            <a:solidFill>
              <a:srgbClr val="E4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8"/>
          <p:cNvSpPr/>
          <p:nvPr/>
        </p:nvSpPr>
        <p:spPr>
          <a:xfrm>
            <a:off x="12535936" y="4107128"/>
            <a:ext cx="4803345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292F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9329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 ONE RISK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12535936" y="4596662"/>
            <a:ext cx="4497677" cy="89521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262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700"/>
              <a:buFont typeface="Archivo"/>
              <a:buNone/>
            </a:pPr>
            <a:r>
              <a:rPr b="1" i="0" lang="en-US" sz="27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It can read backward-looking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12535936" y="5644204"/>
            <a:ext cx="4497677" cy="20385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Fix it in language, not in the name. Forecasts lead with the future and a figure: "will run out in 3 days," never "sold 240 last week." The full tense rule is on slide 23.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9"/>
          <p:cNvSpPr/>
          <p:nvPr/>
        </p:nvSpPr>
        <p:spPr>
          <a:xfrm>
            <a:off x="952439" y="952439"/>
            <a:ext cx="18021390" cy="698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Naming architecture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952439" y="3949204"/>
            <a:ext cx="7905798" cy="13912"/>
          </a:xfrm>
          <a:prstGeom prst="rect">
            <a:avLst/>
          </a:prstGeom>
          <a:solidFill>
            <a:srgbClr val="EDE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1" name="Google Shape;44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439" y="2171709"/>
            <a:ext cx="380954" cy="380954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9"/>
          <p:cNvSpPr/>
          <p:nvPr/>
        </p:nvSpPr>
        <p:spPr>
          <a:xfrm>
            <a:off x="1504800" y="2146600"/>
            <a:ext cx="19095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1E4E"/>
              </a:buClr>
              <a:buSzPts val="3150"/>
              <a:buFont typeface="Archivo"/>
              <a:buNone/>
            </a:pPr>
            <a:r>
              <a:rPr b="1" i="0" lang="en-US" sz="3150" u="none" cap="none" strike="noStrike">
                <a:solidFill>
                  <a:srgbClr val="2B1E4E"/>
                </a:solidFill>
                <a:latin typeface="Archivo"/>
                <a:ea typeface="Archivo"/>
                <a:cs typeface="Archivo"/>
                <a:sym typeface="Archivo"/>
              </a:rPr>
              <a:t>Waymark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952439" y="2749280"/>
            <a:ext cx="8142972" cy="89521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250"/>
              <a:buFont typeface="Archivo"/>
              <a:buNone/>
            </a:pPr>
            <a:r>
              <a:rPr b="0" i="0" lang="en-US" sz="22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The product and the company. Owns the mark, the violet, and every button the operator presses.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9"/>
          <p:cNvSpPr/>
          <p:nvPr/>
        </p:nvSpPr>
        <p:spPr>
          <a:xfrm>
            <a:off x="952439" y="4305920"/>
            <a:ext cx="8696378" cy="4345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F5B"/>
              </a:buClr>
              <a:buSzPts val="2400"/>
              <a:buFont typeface="IBM Plex Mono"/>
              <a:buNone/>
            </a:pPr>
            <a:r>
              <a:rPr b="0" i="0" lang="en-US" sz="2400" u="none" cap="none" strike="noStrike">
                <a:solidFill>
                  <a:srgbClr val="0A5F5B"/>
                </a:solidFill>
                <a:latin typeface="IBM Plex Mono"/>
                <a:ea typeface="IBM Plex Mono"/>
                <a:cs typeface="IBM Plex Mono"/>
                <a:sym typeface="IBM Plex Mono"/>
              </a:rPr>
              <a:t>ALMANAC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9"/>
          <p:cNvSpPr/>
          <p:nvPr/>
        </p:nvSpPr>
        <p:spPr>
          <a:xfrm>
            <a:off x="952439" y="4873818"/>
            <a:ext cx="8142972" cy="89521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250"/>
              <a:buFont typeface="Archivo"/>
              <a:buNone/>
            </a:pPr>
            <a:r>
              <a:rPr b="0" i="0" lang="en-US" sz="22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The engine inside it. Owns the cyan, the forecasts, and nothing the user clicks. Never sold separately, never given its own icon.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9"/>
          <p:cNvSpPr/>
          <p:nvPr/>
        </p:nvSpPr>
        <p:spPr>
          <a:xfrm>
            <a:off x="9429722" y="2146602"/>
            <a:ext cx="7905798" cy="2794386"/>
          </a:xfrm>
          <a:custGeom>
            <a:rect b="b" l="l" r="r" t="t"/>
            <a:pathLst>
              <a:path extrusionOk="0" h="2794386" w="7905798">
                <a:moveTo>
                  <a:pt x="38100" y="0"/>
                </a:moveTo>
                <a:lnTo>
                  <a:pt x="7734348" y="0"/>
                </a:lnTo>
                <a:cubicBezTo>
                  <a:pt x="7779819" y="0"/>
                  <a:pt x="7823428" y="18063"/>
                  <a:pt x="7855581" y="50217"/>
                </a:cubicBezTo>
                <a:cubicBezTo>
                  <a:pt x="7887735" y="82370"/>
                  <a:pt x="7905798" y="125979"/>
                  <a:pt x="7905798" y="171450"/>
                </a:cubicBezTo>
                <a:lnTo>
                  <a:pt x="7905798" y="2622936"/>
                </a:lnTo>
                <a:cubicBezTo>
                  <a:pt x="7905798" y="2717625"/>
                  <a:pt x="7829037" y="2794386"/>
                  <a:pt x="7734348" y="2794386"/>
                </a:cubicBezTo>
                <a:lnTo>
                  <a:pt x="38100" y="2794386"/>
                </a:lnTo>
                <a:cubicBezTo>
                  <a:pt x="17058" y="2794386"/>
                  <a:pt x="0" y="2777328"/>
                  <a:pt x="0" y="2756286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B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9"/>
          <p:cNvSpPr/>
          <p:nvPr/>
        </p:nvSpPr>
        <p:spPr>
          <a:xfrm>
            <a:off x="9429722" y="2146602"/>
            <a:ext cx="34780" cy="2794386"/>
          </a:xfrm>
          <a:prstGeom prst="rect">
            <a:avLst/>
          </a:prstGeom>
          <a:solidFill>
            <a:srgbClr val="0E8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9845456" y="2489406"/>
            <a:ext cx="7820021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SCOPE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9"/>
          <p:cNvSpPr/>
          <p:nvPr/>
        </p:nvSpPr>
        <p:spPr>
          <a:xfrm>
            <a:off x="9845456" y="2940899"/>
            <a:ext cx="7322384" cy="1695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66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250"/>
              <a:buFont typeface="Archivo"/>
              <a:buNone/>
            </a:pPr>
            <a:r>
              <a:rPr b="0" i="0" lang="en-US" sz="22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Almanac is the whole analytical layer — forecasting, optimisation, elasticity, substitution — not the forecaster alone. Name only the forecaster and you need two more names within a year.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9"/>
          <p:cNvSpPr/>
          <p:nvPr/>
        </p:nvSpPr>
        <p:spPr>
          <a:xfrm>
            <a:off x="9429722" y="5283792"/>
            <a:ext cx="7905798" cy="2382891"/>
          </a:xfrm>
          <a:custGeom>
            <a:rect b="b" l="l" r="r" t="t"/>
            <a:pathLst>
              <a:path extrusionOk="0" h="2382891" w="7905798">
                <a:moveTo>
                  <a:pt x="38100" y="0"/>
                </a:moveTo>
                <a:lnTo>
                  <a:pt x="7734348" y="0"/>
                </a:lnTo>
                <a:cubicBezTo>
                  <a:pt x="7779819" y="0"/>
                  <a:pt x="7823428" y="18063"/>
                  <a:pt x="7855581" y="50217"/>
                </a:cubicBezTo>
                <a:cubicBezTo>
                  <a:pt x="7887735" y="82370"/>
                  <a:pt x="7905798" y="125979"/>
                  <a:pt x="7905798" y="171450"/>
                </a:cubicBezTo>
                <a:lnTo>
                  <a:pt x="7905798" y="2211441"/>
                </a:lnTo>
                <a:cubicBezTo>
                  <a:pt x="7905798" y="2306130"/>
                  <a:pt x="7829037" y="2382891"/>
                  <a:pt x="7734348" y="2382891"/>
                </a:cubicBezTo>
                <a:lnTo>
                  <a:pt x="38100" y="2382891"/>
                </a:lnTo>
                <a:cubicBezTo>
                  <a:pt x="17058" y="2382891"/>
                  <a:pt x="0" y="2365833"/>
                  <a:pt x="0" y="2344791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B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9"/>
          <p:cNvSpPr/>
          <p:nvPr/>
        </p:nvSpPr>
        <p:spPr>
          <a:xfrm>
            <a:off x="9429722" y="5283792"/>
            <a:ext cx="34780" cy="2382891"/>
          </a:xfrm>
          <a:prstGeom prst="rect">
            <a:avLst/>
          </a:prstGeom>
          <a:solidFill>
            <a:srgbClr val="0E8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9"/>
          <p:cNvSpPr/>
          <p:nvPr/>
        </p:nvSpPr>
        <p:spPr>
          <a:xfrm>
            <a:off x="9845456" y="5626596"/>
            <a:ext cx="7820021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DESCRIPTOR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9"/>
          <p:cNvSpPr/>
          <p:nvPr/>
        </p:nvSpPr>
        <p:spPr>
          <a:xfrm>
            <a:off x="9845456" y="6078089"/>
            <a:ext cx="7820021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950"/>
              <a:buFont typeface="IBM Plex Mono"/>
              <a:buNone/>
            </a:pPr>
            <a:r>
              <a:rPr b="0" i="0" lang="en-US" sz="1950" u="none" cap="none" strike="noStrike">
                <a:solidFill>
                  <a:srgbClr val="14101F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 &amp; ORDERING ENGINE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9"/>
          <p:cNvSpPr/>
          <p:nvPr/>
        </p:nvSpPr>
        <p:spPr>
          <a:xfrm>
            <a:off x="9845456" y="6550450"/>
            <a:ext cx="7322384" cy="811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66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One fixed line, on first appearance in every document. The name alone reads soft; the descriptor buys back the rigour.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C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0"/>
          <p:cNvSpPr/>
          <p:nvPr/>
        </p:nvSpPr>
        <p:spPr>
          <a:xfrm>
            <a:off x="952451" y="952450"/>
            <a:ext cx="46350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Primary lockup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0"/>
          <p:cNvSpPr/>
          <p:nvPr/>
        </p:nvSpPr>
        <p:spPr>
          <a:xfrm>
            <a:off x="11895217" y="1251550"/>
            <a:ext cx="5984334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DECKS · PRICING · DOCS · CONTRACTS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0"/>
          <p:cNvSpPr/>
          <p:nvPr/>
        </p:nvSpPr>
        <p:spPr>
          <a:xfrm>
            <a:off x="952439" y="2070411"/>
            <a:ext cx="16383000" cy="5292600"/>
          </a:xfrm>
          <a:prstGeom prst="roundRect">
            <a:avLst>
              <a:gd fmla="val 3599" name="adj"/>
            </a:avLst>
          </a:prstGeom>
          <a:solidFill>
            <a:srgbClr val="FFFFFF"/>
          </a:solidFill>
          <a:ln cap="flat" cmpd="sng" w="13900">
            <a:solidFill>
              <a:srgbClr val="E4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3" name="Google Shape;46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669" y="4157669"/>
            <a:ext cx="609526" cy="609526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20"/>
          <p:cNvSpPr/>
          <p:nvPr/>
        </p:nvSpPr>
        <p:spPr>
          <a:xfrm>
            <a:off x="6747875" y="4050525"/>
            <a:ext cx="3359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095"/>
              </a:lnSpc>
              <a:spcBef>
                <a:spcPts val="0"/>
              </a:spcBef>
              <a:spcAft>
                <a:spcPts val="0"/>
              </a:spcAft>
              <a:buClr>
                <a:srgbClr val="2B1E4E"/>
              </a:buClr>
              <a:buSzPts val="5700"/>
              <a:buFont typeface="Archivo"/>
              <a:buNone/>
            </a:pPr>
            <a:r>
              <a:rPr b="1" i="0" lang="en-US" sz="5700" u="none" cap="none" strike="noStrike">
                <a:solidFill>
                  <a:srgbClr val="2B1E4E"/>
                </a:solidFill>
                <a:latin typeface="Archivo"/>
                <a:ea typeface="Archivo"/>
                <a:cs typeface="Archivo"/>
                <a:sym typeface="Archivo"/>
              </a:rPr>
              <a:t>Waymark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0"/>
          <p:cNvSpPr/>
          <p:nvPr/>
        </p:nvSpPr>
        <p:spPr>
          <a:xfrm>
            <a:off x="10107586" y="4205274"/>
            <a:ext cx="18900" cy="514200"/>
          </a:xfrm>
          <a:prstGeom prst="rect">
            <a:avLst/>
          </a:prstGeom>
          <a:solidFill>
            <a:srgbClr val="0E8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0"/>
          <p:cNvSpPr/>
          <p:nvPr/>
        </p:nvSpPr>
        <p:spPr>
          <a:xfrm>
            <a:off x="10306949" y="4262336"/>
            <a:ext cx="2341176" cy="438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6681"/>
              </a:lnSpc>
              <a:spcBef>
                <a:spcPts val="0"/>
              </a:spcBef>
              <a:spcAft>
                <a:spcPts val="0"/>
              </a:spcAft>
              <a:buClr>
                <a:srgbClr val="0A5F5B"/>
              </a:buClr>
              <a:buSzPts val="3150"/>
              <a:buFont typeface="IBM Plex Mono"/>
              <a:buNone/>
            </a:pPr>
            <a:r>
              <a:rPr b="0" i="0" lang="en-US" sz="3150" u="none" cap="none" strike="noStrike">
                <a:solidFill>
                  <a:srgbClr val="0A5F5B"/>
                </a:solidFill>
                <a:latin typeface="IBM Plex Mono"/>
                <a:ea typeface="IBM Plex Mono"/>
                <a:cs typeface="IBM Plex Mono"/>
                <a:sym typeface="IBM Plex Mono"/>
              </a:rPr>
              <a:t>ALMANAC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0"/>
          <p:cNvSpPr/>
          <p:nvPr/>
        </p:nvSpPr>
        <p:spPr>
          <a:xfrm>
            <a:off x="5852669" y="5033808"/>
            <a:ext cx="5687592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 &amp; ORDERING ENGINE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0"/>
          <p:cNvSpPr/>
          <p:nvPr/>
        </p:nvSpPr>
        <p:spPr>
          <a:xfrm>
            <a:off x="952439" y="7820152"/>
            <a:ext cx="5727764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F5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A5F5B"/>
                </a:solidFill>
                <a:latin typeface="IBM Plex Mono"/>
                <a:ea typeface="IBM Plex Mono"/>
                <a:cs typeface="IBM Plex Mono"/>
                <a:sym typeface="IBM Plex Mono"/>
              </a:rPr>
              <a:t>ENGINE NAME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0"/>
          <p:cNvSpPr/>
          <p:nvPr/>
        </p:nvSpPr>
        <p:spPr>
          <a:xfrm>
            <a:off x="952439" y="8214474"/>
            <a:ext cx="5363269" cy="7847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802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Plex Mono 500, caps, tracked 16%, at 0.55× the Waymark wordmark.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0"/>
          <p:cNvSpPr/>
          <p:nvPr/>
        </p:nvSpPr>
        <p:spPr>
          <a:xfrm>
            <a:off x="6540451" y="7820152"/>
            <a:ext cx="5727764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F5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A5F5B"/>
                </a:solidFill>
                <a:latin typeface="IBM Plex Mono"/>
                <a:ea typeface="IBM Plex Mono"/>
                <a:cs typeface="IBM Plex Mono"/>
                <a:sym typeface="IBM Plex Mono"/>
              </a:rPr>
              <a:t>DIVIDER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0"/>
          <p:cNvSpPr/>
          <p:nvPr/>
        </p:nvSpPr>
        <p:spPr>
          <a:xfrm>
            <a:off x="6540451" y="8214474"/>
            <a:ext cx="5363269" cy="7847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802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1px #0E8C86 at the wordmark's cap height. Never a slash, dot or bullet.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0"/>
          <p:cNvSpPr/>
          <p:nvPr/>
        </p:nvSpPr>
        <p:spPr>
          <a:xfrm>
            <a:off x="12128462" y="7820152"/>
            <a:ext cx="5727764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F5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A5F5B"/>
                </a:solidFill>
                <a:latin typeface="IBM Plex Mono"/>
                <a:ea typeface="IBM Plex Mono"/>
                <a:cs typeface="IBM Plex Mono"/>
                <a:sym typeface="IBM Plex Mono"/>
              </a:rPr>
              <a:t>MINIMUM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0"/>
          <p:cNvSpPr/>
          <p:nvPr/>
        </p:nvSpPr>
        <p:spPr>
          <a:xfrm>
            <a:off x="12128462" y="8214474"/>
            <a:ext cx="5363269" cy="115813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802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Dies below a 20px wordmark. Drop to Waymark alone rather than set Almanac illegibly.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1"/>
          <p:cNvSpPr/>
          <p:nvPr/>
        </p:nvSpPr>
        <p:spPr>
          <a:xfrm>
            <a:off x="952439" y="952439"/>
            <a:ext cx="18021390" cy="698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In-product forms, and the rules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1"/>
          <p:cNvSpPr/>
          <p:nvPr/>
        </p:nvSpPr>
        <p:spPr>
          <a:xfrm>
            <a:off x="952439" y="2070411"/>
            <a:ext cx="7924819" cy="7264100"/>
          </a:xfrm>
          <a:prstGeom prst="roundRect">
            <a:avLst>
              <a:gd fmla="val 2622" name="adj"/>
            </a:avLst>
          </a:prstGeom>
          <a:solidFill>
            <a:srgbClr val="FBFAFC"/>
          </a:solidFill>
          <a:ln cap="flat" cmpd="sng" w="13900">
            <a:solidFill>
              <a:srgbClr val="E4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1"/>
          <p:cNvSpPr/>
          <p:nvPr/>
        </p:nvSpPr>
        <p:spPr>
          <a:xfrm>
            <a:off x="1499687" y="4082999"/>
            <a:ext cx="2229629" cy="4190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144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3000"/>
              <a:buFont typeface="IBM Plex Mono"/>
              <a:buNone/>
            </a:pPr>
            <a:r>
              <a:rPr b="0" i="0" lang="en-US" sz="3000" u="none" cap="none" strike="noStrike">
                <a:solidFill>
                  <a:srgbClr val="14101F"/>
                </a:solidFill>
                <a:latin typeface="IBM Plex Mono"/>
                <a:ea typeface="IBM Plex Mono"/>
                <a:cs typeface="IBM Plex Mono"/>
                <a:sym typeface="IBM Plex Mono"/>
              </a:rPr>
              <a:t>ALMANAC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1"/>
          <p:cNvSpPr/>
          <p:nvPr/>
        </p:nvSpPr>
        <p:spPr>
          <a:xfrm>
            <a:off x="1499687" y="4578185"/>
            <a:ext cx="2026935" cy="19021"/>
          </a:xfrm>
          <a:prstGeom prst="rect">
            <a:avLst/>
          </a:prstGeom>
          <a:solidFill>
            <a:srgbClr val="0E8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1"/>
          <p:cNvSpPr/>
          <p:nvPr/>
        </p:nvSpPr>
        <p:spPr>
          <a:xfrm>
            <a:off x="1499687" y="4749587"/>
            <a:ext cx="5376025" cy="3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6B6478"/>
                </a:solidFill>
                <a:latin typeface="Archivo"/>
                <a:ea typeface="Archivo"/>
                <a:cs typeface="Archivo"/>
                <a:sym typeface="Archivo"/>
              </a:rPr>
              <a:t>Panel header — hairline the width of the word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1"/>
          <p:cNvSpPr/>
          <p:nvPr/>
        </p:nvSpPr>
        <p:spPr>
          <a:xfrm>
            <a:off x="1499687" y="5452042"/>
            <a:ext cx="3258661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F5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A5F5B"/>
                </a:solidFill>
                <a:latin typeface="IBM Plex Mono"/>
                <a:ea typeface="IBM Plex Mono"/>
                <a:cs typeface="IBM Plex Mono"/>
                <a:sym typeface="IBM Plex Mono"/>
              </a:rPr>
              <a:t>ALMANAC · FORECAST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1"/>
          <p:cNvSpPr/>
          <p:nvPr/>
        </p:nvSpPr>
        <p:spPr>
          <a:xfrm>
            <a:off x="1499687" y="5903535"/>
            <a:ext cx="7126348" cy="3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6B6478"/>
                </a:solidFill>
                <a:latin typeface="Archivo"/>
                <a:ea typeface="Archivo"/>
                <a:cs typeface="Archivo"/>
                <a:sym typeface="Archivo"/>
              </a:rPr>
              <a:t>Attribution label — no rule, appears hundreds of times a day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1"/>
          <p:cNvSpPr/>
          <p:nvPr/>
        </p:nvSpPr>
        <p:spPr>
          <a:xfrm rot="2700000">
            <a:off x="1499638" y="6688871"/>
            <a:ext cx="133350" cy="133350"/>
          </a:xfrm>
          <a:prstGeom prst="rect">
            <a:avLst/>
          </a:prstGeom>
          <a:solidFill>
            <a:srgbClr val="0E8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1"/>
          <p:cNvSpPr/>
          <p:nvPr/>
        </p:nvSpPr>
        <p:spPr>
          <a:xfrm>
            <a:off x="1747171" y="6605990"/>
            <a:ext cx="3077651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F5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A5F5B"/>
                </a:solidFill>
                <a:latin typeface="IBM Plex Mono"/>
                <a:ea typeface="IBM Plex Mono"/>
                <a:cs typeface="IBM Plex Mono"/>
                <a:sym typeface="IBM Plex Mono"/>
              </a:rPr>
              <a:t>ALMANAC · REORDER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1"/>
          <p:cNvSpPr/>
          <p:nvPr/>
        </p:nvSpPr>
        <p:spPr>
          <a:xfrm>
            <a:off x="1499687" y="7057483"/>
            <a:ext cx="6707418" cy="3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6B6478"/>
                </a:solidFill>
                <a:latin typeface="Archivo"/>
                <a:ea typeface="Archivo"/>
                <a:cs typeface="Archivo"/>
                <a:sym typeface="Archivo"/>
              </a:rPr>
              <a:t>Diamond marker — 8–16px, always adjacent to the label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1"/>
          <p:cNvSpPr/>
          <p:nvPr/>
        </p:nvSpPr>
        <p:spPr>
          <a:xfrm>
            <a:off x="9410593" y="3607378"/>
            <a:ext cx="290208" cy="380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545"/>
              </a:lnSpc>
              <a:spcBef>
                <a:spcPts val="0"/>
              </a:spcBef>
              <a:spcAft>
                <a:spcPts val="0"/>
              </a:spcAft>
              <a:buClr>
                <a:srgbClr val="5A3AA8"/>
              </a:buClr>
              <a:buSzPts val="2250"/>
              <a:buFont typeface="Archivo"/>
              <a:buNone/>
            </a:pPr>
            <a:r>
              <a:rPr b="1" i="0" lang="en-US" sz="2250" u="none" cap="none" strike="noStrike">
                <a:solidFill>
                  <a:srgbClr val="5A3AA8"/>
                </a:solidFill>
                <a:latin typeface="Archivo"/>
                <a:ea typeface="Archivo"/>
                <a:cs typeface="Archivo"/>
                <a:sym typeface="Archivo"/>
              </a:rPr>
              <a:t>✓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1"/>
          <p:cNvSpPr/>
          <p:nvPr/>
        </p:nvSpPr>
        <p:spPr>
          <a:xfrm>
            <a:off x="9815024" y="3607378"/>
            <a:ext cx="5579991" cy="43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802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250"/>
              <a:buFont typeface="Archivo"/>
              <a:buNone/>
            </a:pPr>
            <a:r>
              <a:rPr b="0" i="0" lang="en-US" sz="22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Almanac is always a name, never a verb.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1"/>
          <p:cNvSpPr/>
          <p:nvPr/>
        </p:nvSpPr>
        <p:spPr>
          <a:xfrm>
            <a:off x="9410593" y="4254945"/>
            <a:ext cx="259340" cy="380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545"/>
              </a:lnSpc>
              <a:spcBef>
                <a:spcPts val="0"/>
              </a:spcBef>
              <a:spcAft>
                <a:spcPts val="0"/>
              </a:spcAft>
              <a:buClr>
                <a:srgbClr val="93292F"/>
              </a:buClr>
              <a:buSzPts val="2250"/>
              <a:buFont typeface="Archivo"/>
              <a:buNone/>
            </a:pPr>
            <a:r>
              <a:rPr b="1" i="0" lang="en-US" sz="2250" u="none" cap="none" strike="noStrike">
                <a:solidFill>
                  <a:srgbClr val="93292F"/>
                </a:solidFill>
                <a:latin typeface="Archivo"/>
                <a:ea typeface="Archivo"/>
                <a:cs typeface="Archivo"/>
                <a:sym typeface="Archivo"/>
              </a:rPr>
              <a:t>×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1"/>
          <p:cNvSpPr/>
          <p:nvPr/>
        </p:nvSpPr>
        <p:spPr>
          <a:xfrm>
            <a:off x="9784156" y="4254945"/>
            <a:ext cx="7777905" cy="12380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802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250"/>
              <a:buFont typeface="Archivo"/>
              <a:buNone/>
            </a:pPr>
            <a:r>
              <a:rPr b="0" i="0" lang="en-US" sz="22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No logo, monogram or letter-A tile. The diamond is a text-level marker at 8–16px, always adjacent to the ALMANAC label, never alone and never above 16px.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1"/>
          <p:cNvSpPr/>
          <p:nvPr/>
        </p:nvSpPr>
        <p:spPr>
          <a:xfrm>
            <a:off x="9410593" y="5702461"/>
            <a:ext cx="259340" cy="380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545"/>
              </a:lnSpc>
              <a:spcBef>
                <a:spcPts val="0"/>
              </a:spcBef>
              <a:spcAft>
                <a:spcPts val="0"/>
              </a:spcAft>
              <a:buClr>
                <a:srgbClr val="93292F"/>
              </a:buClr>
              <a:buSzPts val="2250"/>
              <a:buFont typeface="Archivo"/>
              <a:buNone/>
            </a:pPr>
            <a:r>
              <a:rPr b="1" i="0" lang="en-US" sz="2250" u="none" cap="none" strike="noStrike">
                <a:solidFill>
                  <a:srgbClr val="93292F"/>
                </a:solidFill>
                <a:latin typeface="Archivo"/>
                <a:ea typeface="Archivo"/>
                <a:cs typeface="Archivo"/>
                <a:sym typeface="Archivo"/>
              </a:rPr>
              <a:t>×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1"/>
          <p:cNvSpPr/>
          <p:nvPr/>
        </p:nvSpPr>
        <p:spPr>
          <a:xfrm>
            <a:off x="9784156" y="5702461"/>
            <a:ext cx="4411674" cy="43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802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250"/>
              <a:buFont typeface="Archivo"/>
              <a:buNone/>
            </a:pPr>
            <a:r>
              <a:rPr b="0" i="0" lang="en-US" sz="22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Never in Archivo, never in violet.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1"/>
          <p:cNvSpPr/>
          <p:nvPr/>
        </p:nvSpPr>
        <p:spPr>
          <a:xfrm>
            <a:off x="9410593" y="6350028"/>
            <a:ext cx="259340" cy="380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545"/>
              </a:lnSpc>
              <a:spcBef>
                <a:spcPts val="0"/>
              </a:spcBef>
              <a:spcAft>
                <a:spcPts val="0"/>
              </a:spcAft>
              <a:buClr>
                <a:srgbClr val="93292F"/>
              </a:buClr>
              <a:buSzPts val="2250"/>
              <a:buFont typeface="Archivo"/>
              <a:buNone/>
            </a:pPr>
            <a:r>
              <a:rPr b="1" i="0" lang="en-US" sz="2250" u="none" cap="none" strike="noStrike">
                <a:solidFill>
                  <a:srgbClr val="93292F"/>
                </a:solidFill>
                <a:latin typeface="Archivo"/>
                <a:ea typeface="Archivo"/>
                <a:cs typeface="Archivo"/>
                <a:sym typeface="Archivo"/>
              </a:rPr>
              <a:t>×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1"/>
          <p:cNvSpPr/>
          <p:nvPr/>
        </p:nvSpPr>
        <p:spPr>
          <a:xfrm>
            <a:off x="9784156" y="6350028"/>
            <a:ext cx="7852063" cy="43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802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250"/>
              <a:buFont typeface="Archivo"/>
              <a:buNone/>
            </a:pPr>
            <a:r>
              <a:rPr b="0" i="0" lang="en-US" sz="22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Never the mark plus Almanac without the Waymark word.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1"/>
          <p:cNvSpPr/>
          <p:nvPr/>
        </p:nvSpPr>
        <p:spPr>
          <a:xfrm>
            <a:off x="9410593" y="6997596"/>
            <a:ext cx="259340" cy="380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545"/>
              </a:lnSpc>
              <a:spcBef>
                <a:spcPts val="0"/>
              </a:spcBef>
              <a:spcAft>
                <a:spcPts val="0"/>
              </a:spcAft>
              <a:buClr>
                <a:srgbClr val="93292F"/>
              </a:buClr>
              <a:buSzPts val="2250"/>
              <a:buFont typeface="Archivo"/>
              <a:buNone/>
            </a:pPr>
            <a:r>
              <a:rPr b="1" i="0" lang="en-US" sz="2250" u="none" cap="none" strike="noStrike">
                <a:solidFill>
                  <a:srgbClr val="93292F"/>
                </a:solidFill>
                <a:latin typeface="Archivo"/>
                <a:ea typeface="Archivo"/>
                <a:cs typeface="Archivo"/>
                <a:sym typeface="Archivo"/>
              </a:rPr>
              <a:t>×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1"/>
          <p:cNvSpPr/>
          <p:nvPr/>
        </p:nvSpPr>
        <p:spPr>
          <a:xfrm>
            <a:off x="9784156" y="6997596"/>
            <a:ext cx="7777905" cy="8380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802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250"/>
              <a:buFont typeface="Archivo"/>
              <a:buNone/>
            </a:pPr>
            <a:r>
              <a:rPr b="0" i="0" lang="en-US" sz="22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Never on a login screen, invoice or receipt. That relationship is with Waymark.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C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2"/>
          <p:cNvSpPr/>
          <p:nvPr/>
        </p:nvSpPr>
        <p:spPr>
          <a:xfrm>
            <a:off x="952439" y="952439"/>
            <a:ext cx="18021390" cy="698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The notification, rebuilt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2"/>
          <p:cNvSpPr/>
          <p:nvPr/>
        </p:nvSpPr>
        <p:spPr>
          <a:xfrm>
            <a:off x="952439" y="2032261"/>
            <a:ext cx="259340" cy="3511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292F"/>
              </a:buClr>
              <a:buSzPts val="2250"/>
              <a:buFont typeface="Archivo"/>
              <a:buNone/>
            </a:pPr>
            <a:r>
              <a:rPr b="1" i="0" lang="en-US" sz="2250" u="none" cap="none" strike="noStrike">
                <a:solidFill>
                  <a:srgbClr val="93292F"/>
                </a:solidFill>
                <a:latin typeface="Archivo"/>
                <a:ea typeface="Archivo"/>
                <a:cs typeface="Archivo"/>
                <a:sym typeface="Archivo"/>
              </a:rPr>
              <a:t>×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2"/>
          <p:cNvSpPr/>
          <p:nvPr/>
        </p:nvSpPr>
        <p:spPr>
          <a:xfrm>
            <a:off x="1287961" y="2039217"/>
            <a:ext cx="1063745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BEFORE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2"/>
          <p:cNvSpPr/>
          <p:nvPr/>
        </p:nvSpPr>
        <p:spPr>
          <a:xfrm>
            <a:off x="952439" y="2611898"/>
            <a:ext cx="7924819" cy="2956550"/>
          </a:xfrm>
          <a:prstGeom prst="roundRect">
            <a:avLst>
              <a:gd fmla="val 6443" name="adj"/>
            </a:avLst>
          </a:prstGeom>
          <a:solidFill>
            <a:srgbClr val="5A3A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2"/>
          <p:cNvSpPr/>
          <p:nvPr/>
        </p:nvSpPr>
        <p:spPr>
          <a:xfrm>
            <a:off x="1333393" y="2992852"/>
            <a:ext cx="7879202" cy="28851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B6EE"/>
              </a:buClr>
              <a:buSzPts val="1800"/>
              <a:buFont typeface="Archivo"/>
              <a:buNone/>
            </a:pPr>
            <a:r>
              <a:rPr b="1" i="0" lang="en-US" sz="1800" u="none" cap="none" strike="noStrike">
                <a:solidFill>
                  <a:srgbClr val="C6B6EE"/>
                </a:solidFill>
                <a:latin typeface="Archivo"/>
                <a:ea typeface="Archivo"/>
                <a:cs typeface="Archivo"/>
                <a:sym typeface="Archivo"/>
              </a:rPr>
              <a:t>ALMANAC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2"/>
          <p:cNvSpPr/>
          <p:nvPr/>
        </p:nvSpPr>
        <p:spPr>
          <a:xfrm>
            <a:off x="1333393" y="3414673"/>
            <a:ext cx="7879202" cy="4838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9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chivo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Aisle 4 stock will run out in 3 days.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2"/>
          <p:cNvSpPr/>
          <p:nvPr/>
        </p:nvSpPr>
        <p:spPr>
          <a:xfrm>
            <a:off x="1333393" y="4031807"/>
            <a:ext cx="7879202" cy="3302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2F5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DCD2F5"/>
                </a:solidFill>
                <a:latin typeface="Archivo"/>
                <a:ea typeface="Archivo"/>
                <a:cs typeface="Archivo"/>
                <a:sym typeface="Archivo"/>
              </a:rPr>
              <a:t>Reorder 240 units now.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2"/>
          <p:cNvSpPr/>
          <p:nvPr/>
        </p:nvSpPr>
        <p:spPr>
          <a:xfrm>
            <a:off x="1333393" y="4590576"/>
            <a:ext cx="1440669" cy="596918"/>
          </a:xfrm>
          <a:prstGeom prst="roundRect">
            <a:avLst>
              <a:gd fmla="val 1914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2"/>
          <p:cNvSpPr/>
          <p:nvPr/>
        </p:nvSpPr>
        <p:spPr>
          <a:xfrm>
            <a:off x="1600093" y="4742976"/>
            <a:ext cx="983469" cy="3302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3AA8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5A3AA8"/>
                </a:solidFill>
                <a:latin typeface="Archivo"/>
                <a:ea typeface="Archivo"/>
                <a:cs typeface="Archivo"/>
                <a:sym typeface="Archivo"/>
              </a:rPr>
              <a:t>Reorder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2"/>
          <p:cNvSpPr/>
          <p:nvPr/>
        </p:nvSpPr>
        <p:spPr>
          <a:xfrm>
            <a:off x="2945464" y="4590576"/>
            <a:ext cx="1132427" cy="596918"/>
          </a:xfrm>
          <a:prstGeom prst="roundRect">
            <a:avLst>
              <a:gd fmla="val 19148" name="adj"/>
            </a:avLst>
          </a:prstGeom>
          <a:noFill/>
          <a:ln cap="flat" cmpd="sng" w="13900">
            <a:solidFill>
              <a:srgbClr val="8A6B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2"/>
          <p:cNvSpPr/>
          <p:nvPr/>
        </p:nvSpPr>
        <p:spPr>
          <a:xfrm>
            <a:off x="3226076" y="4756888"/>
            <a:ext cx="647403" cy="3023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Later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2"/>
          <p:cNvSpPr/>
          <p:nvPr/>
        </p:nvSpPr>
        <p:spPr>
          <a:xfrm>
            <a:off x="952439" y="5835061"/>
            <a:ext cx="8162563" cy="12383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Violet on a fill makes the engine look like it is acting. The white button inverts the palette. And two actions remove the middle option the brand rests on: adjusting the number.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2"/>
          <p:cNvSpPr/>
          <p:nvPr/>
        </p:nvSpPr>
        <p:spPr>
          <a:xfrm>
            <a:off x="9410593" y="2032261"/>
            <a:ext cx="290208" cy="4137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3AA8"/>
              </a:buClr>
              <a:buSzPts val="2250"/>
              <a:buFont typeface="Archivo"/>
              <a:buNone/>
            </a:pPr>
            <a:r>
              <a:rPr b="1" i="0" lang="en-US" sz="2250" u="none" cap="none" strike="noStrike">
                <a:solidFill>
                  <a:srgbClr val="5A3AA8"/>
                </a:solidFill>
                <a:latin typeface="Archivo"/>
                <a:ea typeface="Archivo"/>
                <a:cs typeface="Archivo"/>
                <a:sym typeface="Archivo"/>
              </a:rPr>
              <a:t>✓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2"/>
          <p:cNvSpPr/>
          <p:nvPr/>
        </p:nvSpPr>
        <p:spPr>
          <a:xfrm>
            <a:off x="9776982" y="2070520"/>
            <a:ext cx="899191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AFTER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2"/>
          <p:cNvSpPr/>
          <p:nvPr/>
        </p:nvSpPr>
        <p:spPr>
          <a:xfrm>
            <a:off x="9410593" y="2674503"/>
            <a:ext cx="7924927" cy="4079739"/>
          </a:xfrm>
          <a:custGeom>
            <a:rect b="b" l="l" r="r" t="t"/>
            <a:pathLst>
              <a:path extrusionOk="0" h="4079739" w="7924927">
                <a:moveTo>
                  <a:pt x="57150" y="0"/>
                </a:moveTo>
                <a:lnTo>
                  <a:pt x="7867777" y="0"/>
                </a:lnTo>
                <a:cubicBezTo>
                  <a:pt x="7882934" y="0"/>
                  <a:pt x="7897470" y="6021"/>
                  <a:pt x="7908188" y="16739"/>
                </a:cubicBezTo>
                <a:cubicBezTo>
                  <a:pt x="7918906" y="27457"/>
                  <a:pt x="7924927" y="41993"/>
                  <a:pt x="7924927" y="57150"/>
                </a:cubicBezTo>
                <a:lnTo>
                  <a:pt x="7924927" y="3889239"/>
                </a:lnTo>
                <a:cubicBezTo>
                  <a:pt x="7924927" y="3994449"/>
                  <a:pt x="7839637" y="4079739"/>
                  <a:pt x="7734427" y="4079739"/>
                </a:cubicBezTo>
                <a:lnTo>
                  <a:pt x="190500" y="4079739"/>
                </a:lnTo>
                <a:cubicBezTo>
                  <a:pt x="85290" y="4079739"/>
                  <a:pt x="0" y="3994449"/>
                  <a:pt x="0" y="3889239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2"/>
          <p:cNvSpPr/>
          <p:nvPr/>
        </p:nvSpPr>
        <p:spPr>
          <a:xfrm>
            <a:off x="9410593" y="6740329"/>
            <a:ext cx="7924927" cy="13912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2"/>
          <p:cNvSpPr/>
          <p:nvPr/>
        </p:nvSpPr>
        <p:spPr>
          <a:xfrm>
            <a:off x="9410593" y="2674503"/>
            <a:ext cx="7924927" cy="55649"/>
          </a:xfrm>
          <a:prstGeom prst="rect">
            <a:avLst/>
          </a:prstGeom>
          <a:solidFill>
            <a:srgbClr val="0E8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2"/>
          <p:cNvSpPr/>
          <p:nvPr/>
        </p:nvSpPr>
        <p:spPr>
          <a:xfrm>
            <a:off x="9410593" y="2674503"/>
            <a:ext cx="13912" cy="4079739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2"/>
          <p:cNvSpPr/>
          <p:nvPr/>
        </p:nvSpPr>
        <p:spPr>
          <a:xfrm>
            <a:off x="17321608" y="2674503"/>
            <a:ext cx="13912" cy="4079739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2"/>
          <p:cNvSpPr/>
          <p:nvPr/>
        </p:nvSpPr>
        <p:spPr>
          <a:xfrm>
            <a:off x="9805460" y="3111105"/>
            <a:ext cx="3258661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F5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A5F5B"/>
                </a:solidFill>
                <a:latin typeface="IBM Plex Mono"/>
                <a:ea typeface="IBM Plex Mono"/>
                <a:cs typeface="IBM Plex Mono"/>
                <a:sym typeface="IBM Plex Mono"/>
              </a:rPr>
              <a:t>ALMANAC · FORECAST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2"/>
          <p:cNvSpPr/>
          <p:nvPr/>
        </p:nvSpPr>
        <p:spPr>
          <a:xfrm>
            <a:off x="16254829" y="3111105"/>
            <a:ext cx="762026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14:20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2"/>
          <p:cNvSpPr/>
          <p:nvPr/>
        </p:nvSpPr>
        <p:spPr>
          <a:xfrm>
            <a:off x="9805460" y="3600639"/>
            <a:ext cx="7349251" cy="9434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912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700"/>
              <a:buFont typeface="Archivo"/>
              <a:buNone/>
            </a:pPr>
            <a:r>
              <a:rPr b="1" i="0" lang="en-US" sz="27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Aisle 4 will run out in </a:t>
            </a:r>
            <a:r>
              <a:rPr b="0" i="0" lang="en-US" sz="2700" u="none" cap="none" strike="noStrike">
                <a:solidFill>
                  <a:srgbClr val="14101F"/>
                </a:solidFill>
                <a:latin typeface="IBM Plex Mono"/>
                <a:ea typeface="IBM Plex Mono"/>
                <a:cs typeface="IBM Plex Mono"/>
                <a:sym typeface="IBM Plex Mono"/>
              </a:rPr>
              <a:t>3 days </a:t>
            </a:r>
            <a:r>
              <a:rPr b="1" i="0" lang="en-US" sz="27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at current velocity.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2"/>
          <p:cNvSpPr/>
          <p:nvPr/>
        </p:nvSpPr>
        <p:spPr>
          <a:xfrm>
            <a:off x="9805460" y="4696438"/>
            <a:ext cx="7349251" cy="8184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66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Suggested reorder </a:t>
            </a:r>
            <a:r>
              <a:rPr b="0" i="0" lang="en-US" sz="2100" u="none" cap="none" strike="noStrike">
                <a:solidFill>
                  <a:srgbClr val="44404F"/>
                </a:solidFill>
                <a:latin typeface="IBM Plex Mono"/>
                <a:ea typeface="IBM Plex Mono"/>
                <a:cs typeface="IBM Plex Mono"/>
                <a:sym typeface="IBM Plex Mono"/>
              </a:rPr>
              <a:t>240 units</a:t>
            </a:r>
            <a:r>
              <a:rPr b="0" i="0" lang="en-US" sz="21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, range </a:t>
            </a:r>
            <a:r>
              <a:rPr b="0" i="0" lang="en-US" sz="2100" u="none" cap="none" strike="noStrike">
                <a:solidFill>
                  <a:srgbClr val="44404F"/>
                </a:solidFill>
                <a:latin typeface="IBM Plex Mono"/>
                <a:ea typeface="IBM Plex Mono"/>
                <a:cs typeface="IBM Plex Mono"/>
                <a:sym typeface="IBM Plex Mono"/>
              </a:rPr>
              <a:t>205–280 </a:t>
            </a:r>
            <a:r>
              <a:rPr b="0" i="0" lang="en-US" sz="21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. Lead time is 4 days.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2"/>
          <p:cNvSpPr/>
          <p:nvPr/>
        </p:nvSpPr>
        <p:spPr>
          <a:xfrm>
            <a:off x="9805460" y="5776370"/>
            <a:ext cx="1998568" cy="569094"/>
          </a:xfrm>
          <a:prstGeom prst="roundRect">
            <a:avLst>
              <a:gd fmla="val 20085" name="adj"/>
            </a:avLst>
          </a:prstGeom>
          <a:solidFill>
            <a:srgbClr val="5A3A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2"/>
          <p:cNvSpPr/>
          <p:nvPr/>
        </p:nvSpPr>
        <p:spPr>
          <a:xfrm>
            <a:off x="10072160" y="5928770"/>
            <a:ext cx="1541368" cy="3023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Review order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2"/>
          <p:cNvSpPr/>
          <p:nvPr/>
        </p:nvSpPr>
        <p:spPr>
          <a:xfrm>
            <a:off x="11975428" y="5762457"/>
            <a:ext cx="1281983" cy="596918"/>
          </a:xfrm>
          <a:prstGeom prst="roundRect">
            <a:avLst>
              <a:gd fmla="val 19148" name="adj"/>
            </a:avLst>
          </a:prstGeom>
          <a:noFill/>
          <a:ln cap="flat" cmpd="sng" w="13900">
            <a:solidFill>
              <a:srgbClr val="E4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2"/>
          <p:cNvSpPr/>
          <p:nvPr/>
        </p:nvSpPr>
        <p:spPr>
          <a:xfrm>
            <a:off x="12256040" y="5928769"/>
            <a:ext cx="796959" cy="3023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Adjust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2"/>
          <p:cNvSpPr/>
          <p:nvPr/>
        </p:nvSpPr>
        <p:spPr>
          <a:xfrm>
            <a:off x="13428814" y="5928751"/>
            <a:ext cx="977447" cy="3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6B6478"/>
                </a:solidFill>
                <a:latin typeface="Archivo"/>
                <a:ea typeface="Archivo"/>
                <a:cs typeface="Archivo"/>
                <a:sym typeface="Archivo"/>
              </a:rPr>
              <a:t>Dismiss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2"/>
          <p:cNvSpPr/>
          <p:nvPr/>
        </p:nvSpPr>
        <p:spPr>
          <a:xfrm>
            <a:off x="9410593" y="7020855"/>
            <a:ext cx="8162675" cy="12383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White card, cyan only as a top edge and the label. Paper with a ruled line — the Almanac idea made literal. Violet returns to the button, and three actions restore the middle option.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3"/>
          <p:cNvSpPr/>
          <p:nvPr/>
        </p:nvSpPr>
        <p:spPr>
          <a:xfrm>
            <a:off x="952439" y="857228"/>
            <a:ext cx="8656446" cy="698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Four weights, one component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3"/>
          <p:cNvSpPr/>
          <p:nvPr/>
        </p:nvSpPr>
        <p:spPr>
          <a:xfrm>
            <a:off x="13335342" y="1156339"/>
            <a:ext cx="4400197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LABEL FIRST · EDGE SECOND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3"/>
          <p:cNvSpPr/>
          <p:nvPr/>
        </p:nvSpPr>
        <p:spPr>
          <a:xfrm>
            <a:off x="952439" y="1937050"/>
            <a:ext cx="3867144" cy="1720325"/>
          </a:xfrm>
          <a:custGeom>
            <a:rect b="b" l="l" r="r" t="t"/>
            <a:pathLst>
              <a:path extrusionOk="0" h="1720325" w="3867144">
                <a:moveTo>
                  <a:pt x="57150" y="0"/>
                </a:moveTo>
                <a:lnTo>
                  <a:pt x="3695694" y="0"/>
                </a:lnTo>
                <a:cubicBezTo>
                  <a:pt x="3741165" y="0"/>
                  <a:pt x="3784774" y="18063"/>
                  <a:pt x="3816927" y="50217"/>
                </a:cubicBezTo>
                <a:cubicBezTo>
                  <a:pt x="3849081" y="82370"/>
                  <a:pt x="3867144" y="125979"/>
                  <a:pt x="3867144" y="171450"/>
                </a:cubicBezTo>
                <a:lnTo>
                  <a:pt x="3867144" y="1548875"/>
                </a:lnTo>
                <a:cubicBezTo>
                  <a:pt x="3867144" y="1643564"/>
                  <a:pt x="3790383" y="1720325"/>
                  <a:pt x="3695694" y="1720325"/>
                </a:cubicBezTo>
                <a:lnTo>
                  <a:pt x="57150" y="1720325"/>
                </a:lnTo>
                <a:cubicBezTo>
                  <a:pt x="25587" y="1720325"/>
                  <a:pt x="0" y="1694738"/>
                  <a:pt x="0" y="16631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3"/>
          <p:cNvSpPr/>
          <p:nvPr/>
        </p:nvSpPr>
        <p:spPr>
          <a:xfrm>
            <a:off x="952439" y="3643462"/>
            <a:ext cx="3867144" cy="13912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3"/>
          <p:cNvSpPr/>
          <p:nvPr/>
        </p:nvSpPr>
        <p:spPr>
          <a:xfrm>
            <a:off x="952439" y="1937050"/>
            <a:ext cx="3867144" cy="13912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3"/>
          <p:cNvSpPr/>
          <p:nvPr/>
        </p:nvSpPr>
        <p:spPr>
          <a:xfrm>
            <a:off x="952439" y="1937050"/>
            <a:ext cx="55649" cy="1720325"/>
          </a:xfrm>
          <a:prstGeom prst="rect">
            <a:avLst/>
          </a:prstGeom>
          <a:solidFill>
            <a:srgbClr val="0E8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3"/>
          <p:cNvSpPr/>
          <p:nvPr/>
        </p:nvSpPr>
        <p:spPr>
          <a:xfrm>
            <a:off x="4805671" y="1937050"/>
            <a:ext cx="13912" cy="1720325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3"/>
          <p:cNvSpPr/>
          <p:nvPr/>
        </p:nvSpPr>
        <p:spPr>
          <a:xfrm>
            <a:off x="1274701" y="2217575"/>
            <a:ext cx="3590792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F5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A5F5B"/>
                </a:solidFill>
                <a:latin typeface="IBM Plex Mono"/>
                <a:ea typeface="IBM Plex Mono"/>
                <a:cs typeface="IBM Plex Mono"/>
                <a:sym typeface="IBM Plex Mono"/>
              </a:rPr>
              <a:t>ALMANAC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3"/>
          <p:cNvSpPr/>
          <p:nvPr/>
        </p:nvSpPr>
        <p:spPr>
          <a:xfrm>
            <a:off x="1274701" y="2649939"/>
            <a:ext cx="3362287" cy="7650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238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Milk is running </a:t>
            </a:r>
            <a:r>
              <a:rPr b="0" i="0" lang="en-US" sz="2100" u="none" cap="none" strike="noStrike">
                <a:solidFill>
                  <a:srgbClr val="14101F"/>
                </a:solidFill>
                <a:latin typeface="IBM Plex Mono"/>
                <a:ea typeface="IBM Plex Mono"/>
                <a:cs typeface="IBM Plex Mono"/>
                <a:sym typeface="IBM Plex Mono"/>
              </a:rPr>
              <a:t>18% </a:t>
            </a:r>
            <a:r>
              <a:rPr b="0" i="0" lang="en-US" sz="21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above last Thursday.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3"/>
          <p:cNvSpPr/>
          <p:nvPr/>
        </p:nvSpPr>
        <p:spPr>
          <a:xfrm>
            <a:off x="952439" y="3885947"/>
            <a:ext cx="3983158" cy="7563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50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950"/>
              <a:buFont typeface="Archivo"/>
              <a:buNone/>
            </a:pPr>
            <a:r>
              <a:rPr b="1" i="0" lang="en-US" sz="19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Quiet. </a:t>
            </a:r>
            <a:r>
              <a:rPr b="0" i="0" lang="en-US" sz="19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Inline, no actions. Safe to ignore forever.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3"/>
          <p:cNvSpPr/>
          <p:nvPr/>
        </p:nvSpPr>
        <p:spPr>
          <a:xfrm>
            <a:off x="5124346" y="1937050"/>
            <a:ext cx="3867252" cy="2523425"/>
          </a:xfrm>
          <a:custGeom>
            <a:rect b="b" l="l" r="r" t="t"/>
            <a:pathLst>
              <a:path extrusionOk="0" h="2523425" w="3867252">
                <a:moveTo>
                  <a:pt x="57150" y="0"/>
                </a:moveTo>
                <a:lnTo>
                  <a:pt x="3810102" y="0"/>
                </a:lnTo>
                <a:cubicBezTo>
                  <a:pt x="3825259" y="0"/>
                  <a:pt x="3839795" y="6021"/>
                  <a:pt x="3850513" y="16739"/>
                </a:cubicBezTo>
                <a:cubicBezTo>
                  <a:pt x="3861231" y="27457"/>
                  <a:pt x="3867252" y="41993"/>
                  <a:pt x="3867252" y="57150"/>
                </a:cubicBezTo>
                <a:lnTo>
                  <a:pt x="3867252" y="2351975"/>
                </a:lnTo>
                <a:cubicBezTo>
                  <a:pt x="3867252" y="2446664"/>
                  <a:pt x="3790491" y="2523425"/>
                  <a:pt x="3695802" y="2523425"/>
                </a:cubicBezTo>
                <a:lnTo>
                  <a:pt x="171450" y="2523425"/>
                </a:lnTo>
                <a:cubicBezTo>
                  <a:pt x="76761" y="2523425"/>
                  <a:pt x="0" y="2446664"/>
                  <a:pt x="0" y="23519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3"/>
          <p:cNvSpPr/>
          <p:nvPr/>
        </p:nvSpPr>
        <p:spPr>
          <a:xfrm>
            <a:off x="5124346" y="4446563"/>
            <a:ext cx="3867252" cy="13912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3"/>
          <p:cNvSpPr/>
          <p:nvPr/>
        </p:nvSpPr>
        <p:spPr>
          <a:xfrm>
            <a:off x="5124346" y="1937050"/>
            <a:ext cx="3867252" cy="55649"/>
          </a:xfrm>
          <a:prstGeom prst="rect">
            <a:avLst/>
          </a:prstGeom>
          <a:solidFill>
            <a:srgbClr val="0E8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3"/>
          <p:cNvSpPr/>
          <p:nvPr/>
        </p:nvSpPr>
        <p:spPr>
          <a:xfrm>
            <a:off x="5124346" y="1937050"/>
            <a:ext cx="13912" cy="2523425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3"/>
          <p:cNvSpPr/>
          <p:nvPr/>
        </p:nvSpPr>
        <p:spPr>
          <a:xfrm>
            <a:off x="8977686" y="1937050"/>
            <a:ext cx="13912" cy="2523425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3"/>
          <p:cNvSpPr/>
          <p:nvPr/>
        </p:nvSpPr>
        <p:spPr>
          <a:xfrm>
            <a:off x="5404871" y="2259312"/>
            <a:ext cx="3636822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F5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A5F5B"/>
                </a:solidFill>
                <a:latin typeface="IBM Plex Mono"/>
                <a:ea typeface="IBM Plex Mono"/>
                <a:cs typeface="IBM Plex Mono"/>
                <a:sym typeface="IBM Plex Mono"/>
              </a:rPr>
              <a:t>ALMANAC · FORECAST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3"/>
          <p:cNvSpPr/>
          <p:nvPr/>
        </p:nvSpPr>
        <p:spPr>
          <a:xfrm>
            <a:off x="5404871" y="2710805"/>
            <a:ext cx="3405387" cy="771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238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Pain de mie runs out in </a:t>
            </a:r>
            <a:r>
              <a:rPr b="0" i="0" lang="en-US" sz="2100" u="none" cap="none" strike="noStrike">
                <a:solidFill>
                  <a:srgbClr val="14101F"/>
                </a:solidFill>
                <a:latin typeface="IBM Plex Mono"/>
                <a:ea typeface="IBM Plex Mono"/>
                <a:cs typeface="IBM Plex Mono"/>
                <a:sym typeface="IBM Plex Mono"/>
              </a:rPr>
              <a:t>2 days </a:t>
            </a:r>
            <a:r>
              <a:rPr b="0" i="0" lang="en-US" sz="21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3"/>
          <p:cNvSpPr/>
          <p:nvPr/>
        </p:nvSpPr>
        <p:spPr>
          <a:xfrm>
            <a:off x="5404871" y="3654114"/>
            <a:ext cx="1138405" cy="525836"/>
          </a:xfrm>
          <a:prstGeom prst="roundRect">
            <a:avLst>
              <a:gd fmla="val 18114" name="adj"/>
            </a:avLst>
          </a:prstGeom>
          <a:solidFill>
            <a:srgbClr val="5A3A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3"/>
          <p:cNvSpPr/>
          <p:nvPr/>
        </p:nvSpPr>
        <p:spPr>
          <a:xfrm>
            <a:off x="5595371" y="3777939"/>
            <a:ext cx="833605" cy="3162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Review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3"/>
          <p:cNvSpPr/>
          <p:nvPr/>
        </p:nvSpPr>
        <p:spPr>
          <a:xfrm>
            <a:off x="6657509" y="3654114"/>
            <a:ext cx="1074062" cy="525836"/>
          </a:xfrm>
          <a:prstGeom prst="roundRect">
            <a:avLst>
              <a:gd fmla="val 18114" name="adj"/>
            </a:avLst>
          </a:prstGeom>
          <a:noFill/>
          <a:ln cap="flat" cmpd="sng" w="13900">
            <a:solidFill>
              <a:srgbClr val="E4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3"/>
          <p:cNvSpPr/>
          <p:nvPr/>
        </p:nvSpPr>
        <p:spPr>
          <a:xfrm>
            <a:off x="6861921" y="3791851"/>
            <a:ext cx="741437" cy="2884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Adjust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3"/>
          <p:cNvSpPr/>
          <p:nvPr/>
        </p:nvSpPr>
        <p:spPr>
          <a:xfrm>
            <a:off x="5124346" y="4689048"/>
            <a:ext cx="3983270" cy="7563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50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950"/>
              <a:buFont typeface="Archivo"/>
              <a:buNone/>
            </a:pPr>
            <a:r>
              <a:rPr b="1" i="0" lang="en-US" sz="19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Standard. </a:t>
            </a:r>
            <a:r>
              <a:rPr b="0" i="0" lang="en-US" sz="19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A forecast, a suggested response, a way to change it.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3"/>
          <p:cNvSpPr/>
          <p:nvPr/>
        </p:nvSpPr>
        <p:spPr>
          <a:xfrm>
            <a:off x="9296361" y="1937050"/>
            <a:ext cx="3867144" cy="2488645"/>
          </a:xfrm>
          <a:custGeom>
            <a:rect b="b" l="l" r="r" t="t"/>
            <a:pathLst>
              <a:path extrusionOk="0" h="2488645" w="3867144">
                <a:moveTo>
                  <a:pt x="57150" y="0"/>
                </a:moveTo>
                <a:lnTo>
                  <a:pt x="3809994" y="0"/>
                </a:lnTo>
                <a:cubicBezTo>
                  <a:pt x="3825151" y="0"/>
                  <a:pt x="3839687" y="6021"/>
                  <a:pt x="3850405" y="16739"/>
                </a:cubicBezTo>
                <a:cubicBezTo>
                  <a:pt x="3861123" y="27457"/>
                  <a:pt x="3867144" y="41993"/>
                  <a:pt x="3867144" y="57150"/>
                </a:cubicBezTo>
                <a:lnTo>
                  <a:pt x="3867144" y="2317195"/>
                </a:lnTo>
                <a:cubicBezTo>
                  <a:pt x="3867144" y="2411884"/>
                  <a:pt x="3790383" y="2488645"/>
                  <a:pt x="3695694" y="2488645"/>
                </a:cubicBezTo>
                <a:lnTo>
                  <a:pt x="171450" y="2488645"/>
                </a:lnTo>
                <a:cubicBezTo>
                  <a:pt x="76761" y="2488645"/>
                  <a:pt x="0" y="2411884"/>
                  <a:pt x="0" y="231719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3"/>
          <p:cNvSpPr/>
          <p:nvPr/>
        </p:nvSpPr>
        <p:spPr>
          <a:xfrm>
            <a:off x="9296361" y="4411783"/>
            <a:ext cx="3867144" cy="13912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3"/>
          <p:cNvSpPr/>
          <p:nvPr/>
        </p:nvSpPr>
        <p:spPr>
          <a:xfrm>
            <a:off x="9296361" y="1937050"/>
            <a:ext cx="3867144" cy="55649"/>
          </a:xfrm>
          <a:prstGeom prst="rect">
            <a:avLst/>
          </a:prstGeom>
          <a:solidFill>
            <a:srgbClr val="BA88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3"/>
          <p:cNvSpPr/>
          <p:nvPr/>
        </p:nvSpPr>
        <p:spPr>
          <a:xfrm>
            <a:off x="9296361" y="1937050"/>
            <a:ext cx="13912" cy="2488645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3"/>
          <p:cNvSpPr/>
          <p:nvPr/>
        </p:nvSpPr>
        <p:spPr>
          <a:xfrm>
            <a:off x="13149593" y="1937050"/>
            <a:ext cx="13912" cy="2488645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3"/>
          <p:cNvSpPr/>
          <p:nvPr/>
        </p:nvSpPr>
        <p:spPr>
          <a:xfrm>
            <a:off x="9576887" y="2259312"/>
            <a:ext cx="3636702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580A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7C580A"/>
                </a:solidFill>
                <a:latin typeface="IBM Plex Mono"/>
                <a:ea typeface="IBM Plex Mono"/>
                <a:cs typeface="IBM Plex Mono"/>
                <a:sym typeface="IBM Plex Mono"/>
              </a:rPr>
              <a:t>ALMANAC · WARNING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3"/>
          <p:cNvSpPr/>
          <p:nvPr/>
        </p:nvSpPr>
        <p:spPr>
          <a:xfrm>
            <a:off x="9576887" y="2710805"/>
            <a:ext cx="3405275" cy="7650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238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Supplier lead time moved from </a:t>
            </a:r>
            <a:r>
              <a:rPr b="0" i="0" lang="en-US" sz="2100" u="none" cap="none" strike="noStrike">
                <a:solidFill>
                  <a:srgbClr val="14101F"/>
                </a:solidFill>
                <a:latin typeface="IBM Plex Mono"/>
                <a:ea typeface="IBM Plex Mono"/>
                <a:cs typeface="IBM Plex Mono"/>
                <a:sym typeface="IBM Plex Mono"/>
              </a:rPr>
              <a:t>4 </a:t>
            </a:r>
            <a:r>
              <a:rPr b="0" i="0" lang="en-US" sz="21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to </a:t>
            </a:r>
            <a:r>
              <a:rPr b="0" i="0" lang="en-US" sz="2100" u="none" cap="none" strike="noStrike">
                <a:solidFill>
                  <a:srgbClr val="14101F"/>
                </a:solidFill>
                <a:latin typeface="IBM Plex Mono"/>
                <a:ea typeface="IBM Plex Mono"/>
                <a:cs typeface="IBM Plex Mono"/>
                <a:sym typeface="IBM Plex Mono"/>
              </a:rPr>
              <a:t>6 days</a:t>
            </a:r>
            <a:r>
              <a:rPr b="0" i="0" lang="en-US" sz="21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3"/>
          <p:cNvSpPr/>
          <p:nvPr/>
        </p:nvSpPr>
        <p:spPr>
          <a:xfrm>
            <a:off x="9576887" y="3647158"/>
            <a:ext cx="1853142" cy="498012"/>
          </a:xfrm>
          <a:prstGeom prst="roundRect">
            <a:avLst>
              <a:gd fmla="val 19126" name="adj"/>
            </a:avLst>
          </a:prstGeom>
          <a:solidFill>
            <a:srgbClr val="5A3A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3"/>
          <p:cNvSpPr/>
          <p:nvPr/>
        </p:nvSpPr>
        <p:spPr>
          <a:xfrm>
            <a:off x="9767387" y="3770983"/>
            <a:ext cx="1548342" cy="2884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Review orders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3"/>
          <p:cNvSpPr/>
          <p:nvPr/>
        </p:nvSpPr>
        <p:spPr>
          <a:xfrm>
            <a:off x="9296361" y="4654267"/>
            <a:ext cx="3983158" cy="11154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50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950"/>
              <a:buFont typeface="Archivo"/>
              <a:buNone/>
            </a:pPr>
            <a:r>
              <a:rPr b="1" i="0" lang="en-US" sz="19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Warning. </a:t>
            </a:r>
            <a:r>
              <a:rPr b="0" i="0" lang="en-US" sz="19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Something changed that costs money if ignored. No deadline.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3"/>
          <p:cNvSpPr/>
          <p:nvPr/>
        </p:nvSpPr>
        <p:spPr>
          <a:xfrm>
            <a:off x="13468269" y="1937050"/>
            <a:ext cx="3867252" cy="2488645"/>
          </a:xfrm>
          <a:custGeom>
            <a:rect b="b" l="l" r="r" t="t"/>
            <a:pathLst>
              <a:path extrusionOk="0" h="2488645" w="3867252">
                <a:moveTo>
                  <a:pt x="57150" y="0"/>
                </a:moveTo>
                <a:lnTo>
                  <a:pt x="3810102" y="0"/>
                </a:lnTo>
                <a:cubicBezTo>
                  <a:pt x="3825259" y="0"/>
                  <a:pt x="3839795" y="6021"/>
                  <a:pt x="3850513" y="16739"/>
                </a:cubicBezTo>
                <a:cubicBezTo>
                  <a:pt x="3861231" y="27457"/>
                  <a:pt x="3867252" y="41993"/>
                  <a:pt x="3867252" y="57150"/>
                </a:cubicBezTo>
                <a:lnTo>
                  <a:pt x="3867252" y="2317195"/>
                </a:lnTo>
                <a:cubicBezTo>
                  <a:pt x="3867252" y="2411884"/>
                  <a:pt x="3790491" y="2488645"/>
                  <a:pt x="3695802" y="2488645"/>
                </a:cubicBezTo>
                <a:lnTo>
                  <a:pt x="171450" y="2488645"/>
                </a:lnTo>
                <a:cubicBezTo>
                  <a:pt x="76761" y="2488645"/>
                  <a:pt x="0" y="2411884"/>
                  <a:pt x="0" y="231719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3"/>
          <p:cNvSpPr/>
          <p:nvPr/>
        </p:nvSpPr>
        <p:spPr>
          <a:xfrm>
            <a:off x="13468269" y="4411783"/>
            <a:ext cx="3867252" cy="13912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3"/>
          <p:cNvSpPr/>
          <p:nvPr/>
        </p:nvSpPr>
        <p:spPr>
          <a:xfrm>
            <a:off x="13468269" y="1937050"/>
            <a:ext cx="3867252" cy="55649"/>
          </a:xfrm>
          <a:prstGeom prst="rect">
            <a:avLst/>
          </a:prstGeom>
          <a:solidFill>
            <a:srgbClr val="C03F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3"/>
          <p:cNvSpPr/>
          <p:nvPr/>
        </p:nvSpPr>
        <p:spPr>
          <a:xfrm>
            <a:off x="13468269" y="1937050"/>
            <a:ext cx="13912" cy="2488645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3"/>
          <p:cNvSpPr/>
          <p:nvPr/>
        </p:nvSpPr>
        <p:spPr>
          <a:xfrm>
            <a:off x="17321609" y="1937050"/>
            <a:ext cx="13912" cy="2488645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3"/>
          <p:cNvSpPr/>
          <p:nvPr/>
        </p:nvSpPr>
        <p:spPr>
          <a:xfrm>
            <a:off x="13748793" y="2259312"/>
            <a:ext cx="3636822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292F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93292F"/>
                </a:solidFill>
                <a:latin typeface="IBM Plex Mono"/>
                <a:ea typeface="IBM Plex Mono"/>
                <a:cs typeface="IBM Plex Mono"/>
                <a:sym typeface="IBM Plex Mono"/>
              </a:rPr>
              <a:t>ALMANAC · CRITICAL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3"/>
          <p:cNvSpPr/>
          <p:nvPr/>
        </p:nvSpPr>
        <p:spPr>
          <a:xfrm>
            <a:off x="13748793" y="2710805"/>
            <a:ext cx="3405387" cy="7650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238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Cold chain at Store 04 broke for </a:t>
            </a:r>
            <a:r>
              <a:rPr b="0" i="0" lang="en-US" sz="2100" u="none" cap="none" strike="noStrike">
                <a:solidFill>
                  <a:srgbClr val="14101F"/>
                </a:solidFill>
                <a:latin typeface="IBM Plex Mono"/>
                <a:ea typeface="IBM Plex Mono"/>
                <a:cs typeface="IBM Plex Mono"/>
                <a:sym typeface="IBM Plex Mono"/>
              </a:rPr>
              <a:t>40 min</a:t>
            </a:r>
            <a:r>
              <a:rPr b="0" i="0" lang="en-US" sz="21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3"/>
          <p:cNvSpPr/>
          <p:nvPr/>
        </p:nvSpPr>
        <p:spPr>
          <a:xfrm>
            <a:off x="13748793" y="3647158"/>
            <a:ext cx="1818144" cy="498012"/>
          </a:xfrm>
          <a:prstGeom prst="roundRect">
            <a:avLst>
              <a:gd fmla="val 19126" name="adj"/>
            </a:avLst>
          </a:prstGeom>
          <a:solidFill>
            <a:srgbClr val="5A3A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3"/>
          <p:cNvSpPr/>
          <p:nvPr/>
        </p:nvSpPr>
        <p:spPr>
          <a:xfrm>
            <a:off x="13939293" y="3770983"/>
            <a:ext cx="1513344" cy="2884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chivo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Open incident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3"/>
          <p:cNvSpPr/>
          <p:nvPr/>
        </p:nvSpPr>
        <p:spPr>
          <a:xfrm>
            <a:off x="13468269" y="4654267"/>
            <a:ext cx="3983270" cy="7563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850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950"/>
              <a:buFont typeface="Archivo"/>
              <a:buNone/>
            </a:pPr>
            <a:r>
              <a:rPr b="1" i="0" lang="en-US" sz="19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Critical. </a:t>
            </a:r>
            <a:r>
              <a:rPr b="0" i="0" lang="en-US" sz="19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A deadline. If everything is critical, nothing is.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3"/>
          <p:cNvSpPr/>
          <p:nvPr/>
        </p:nvSpPr>
        <p:spPr>
          <a:xfrm>
            <a:off x="952439" y="8629556"/>
            <a:ext cx="14716078" cy="8382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931"/>
              </a:lnSpc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2100"/>
              <a:buFont typeface="Archivo"/>
              <a:buNone/>
            </a:pPr>
            <a:r>
              <a:rPr b="0" i="0" lang="en-US" sz="2100" u="none" cap="none" strike="noStrike">
                <a:solidFill>
                  <a:srgbClr val="6B6478"/>
                </a:solidFill>
                <a:latin typeface="Archivo"/>
                <a:ea typeface="Archivo"/>
                <a:cs typeface="Archivo"/>
                <a:sym typeface="Archivo"/>
              </a:rPr>
              <a:t>One white card, one variable: the colour and position of the rule. The label moves with it. There is no positive weight — a shelf that is fine gets no card at all.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C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4"/>
          <p:cNvSpPr/>
          <p:nvPr/>
        </p:nvSpPr>
        <p:spPr>
          <a:xfrm>
            <a:off x="952439" y="1877054"/>
            <a:ext cx="7810587" cy="6532843"/>
          </a:xfrm>
          <a:custGeom>
            <a:rect b="b" l="l" r="r" t="t"/>
            <a:pathLst>
              <a:path extrusionOk="0" h="6532843" w="7810587">
                <a:moveTo>
                  <a:pt x="57150" y="0"/>
                </a:moveTo>
                <a:lnTo>
                  <a:pt x="7753437" y="0"/>
                </a:lnTo>
                <a:cubicBezTo>
                  <a:pt x="7768594" y="0"/>
                  <a:pt x="7783130" y="6021"/>
                  <a:pt x="7793848" y="16739"/>
                </a:cubicBezTo>
                <a:cubicBezTo>
                  <a:pt x="7804566" y="27457"/>
                  <a:pt x="7810587" y="41993"/>
                  <a:pt x="7810587" y="57150"/>
                </a:cubicBezTo>
                <a:lnTo>
                  <a:pt x="7810587" y="6342343"/>
                </a:lnTo>
                <a:cubicBezTo>
                  <a:pt x="7810587" y="6447553"/>
                  <a:pt x="7725297" y="6532843"/>
                  <a:pt x="7620087" y="6532843"/>
                </a:cubicBezTo>
                <a:lnTo>
                  <a:pt x="190500" y="6532843"/>
                </a:lnTo>
                <a:cubicBezTo>
                  <a:pt x="85290" y="6532843"/>
                  <a:pt x="0" y="6447553"/>
                  <a:pt x="0" y="6342343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4"/>
          <p:cNvSpPr/>
          <p:nvPr/>
        </p:nvSpPr>
        <p:spPr>
          <a:xfrm>
            <a:off x="952439" y="8395984"/>
            <a:ext cx="7810587" cy="13912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4"/>
          <p:cNvSpPr/>
          <p:nvPr/>
        </p:nvSpPr>
        <p:spPr>
          <a:xfrm>
            <a:off x="952439" y="1877054"/>
            <a:ext cx="7810587" cy="55649"/>
          </a:xfrm>
          <a:prstGeom prst="rect">
            <a:avLst/>
          </a:prstGeom>
          <a:solidFill>
            <a:srgbClr val="0E8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4"/>
          <p:cNvSpPr/>
          <p:nvPr/>
        </p:nvSpPr>
        <p:spPr>
          <a:xfrm>
            <a:off x="952439" y="1877054"/>
            <a:ext cx="13912" cy="6532843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4"/>
          <p:cNvSpPr/>
          <p:nvPr/>
        </p:nvSpPr>
        <p:spPr>
          <a:xfrm>
            <a:off x="8749114" y="1877054"/>
            <a:ext cx="13912" cy="6532843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4"/>
          <p:cNvSpPr/>
          <p:nvPr/>
        </p:nvSpPr>
        <p:spPr>
          <a:xfrm rot="2700000">
            <a:off x="1385332" y="2439286"/>
            <a:ext cx="123825" cy="123825"/>
          </a:xfrm>
          <a:prstGeom prst="rect">
            <a:avLst/>
          </a:prstGeom>
          <a:solidFill>
            <a:srgbClr val="0E8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4"/>
          <p:cNvSpPr/>
          <p:nvPr/>
        </p:nvSpPr>
        <p:spPr>
          <a:xfrm>
            <a:off x="1623374" y="2351697"/>
            <a:ext cx="3077651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F5B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0A5F5B"/>
                </a:solidFill>
                <a:latin typeface="IBM Plex Mono"/>
                <a:ea typeface="IBM Plex Mono"/>
                <a:cs typeface="IBM Plex Mono"/>
                <a:sym typeface="IBM Plex Mono"/>
              </a:rPr>
              <a:t>ALMANAC · REORDER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4"/>
          <p:cNvSpPr/>
          <p:nvPr/>
        </p:nvSpPr>
        <p:spPr>
          <a:xfrm>
            <a:off x="7644293" y="2351697"/>
            <a:ext cx="762026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14:02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4"/>
          <p:cNvSpPr/>
          <p:nvPr/>
        </p:nvSpPr>
        <p:spPr>
          <a:xfrm>
            <a:off x="1385346" y="2898401"/>
            <a:ext cx="7153116" cy="10043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109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3000"/>
              <a:buFont typeface="Archivo"/>
              <a:buNone/>
            </a:pPr>
            <a:r>
              <a:rPr b="1" i="0" lang="en-US" sz="30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Suggested reorder: </a:t>
            </a:r>
            <a:r>
              <a:rPr b="0" i="0" lang="en-US" sz="3000" u="none" cap="none" strike="noStrike">
                <a:solidFill>
                  <a:srgbClr val="14101F"/>
                </a:solidFill>
                <a:latin typeface="IBM Plex Mono"/>
                <a:ea typeface="IBM Plex Mono"/>
                <a:cs typeface="IBM Plex Mono"/>
                <a:sym typeface="IBM Plex Mono"/>
              </a:rPr>
              <a:t>240 </a:t>
            </a:r>
            <a:r>
              <a:rPr b="1" i="0" lang="en-US" sz="30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units of Lait Candia 1L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4"/>
          <p:cNvSpPr/>
          <p:nvPr/>
        </p:nvSpPr>
        <p:spPr>
          <a:xfrm>
            <a:off x="1385346" y="4224621"/>
            <a:ext cx="1960635" cy="95211"/>
          </a:xfrm>
          <a:prstGeom prst="rect">
            <a:avLst/>
          </a:prstGeom>
          <a:solidFill>
            <a:srgbClr val="E3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4"/>
          <p:cNvSpPr/>
          <p:nvPr/>
        </p:nvSpPr>
        <p:spPr>
          <a:xfrm>
            <a:off x="1385346" y="4224621"/>
            <a:ext cx="27824" cy="95211"/>
          </a:xfrm>
          <a:prstGeom prst="rect">
            <a:avLst/>
          </a:prstGeom>
          <a:solidFill>
            <a:srgbClr val="0E8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4"/>
          <p:cNvSpPr/>
          <p:nvPr/>
        </p:nvSpPr>
        <p:spPr>
          <a:xfrm>
            <a:off x="3318157" y="4224621"/>
            <a:ext cx="27824" cy="95211"/>
          </a:xfrm>
          <a:prstGeom prst="rect">
            <a:avLst/>
          </a:prstGeom>
          <a:solidFill>
            <a:srgbClr val="0E8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4"/>
          <p:cNvSpPr/>
          <p:nvPr/>
        </p:nvSpPr>
        <p:spPr>
          <a:xfrm>
            <a:off x="3555425" y="4112237"/>
            <a:ext cx="1471036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950"/>
              <a:buFont typeface="IBM Plex Mono"/>
              <a:buNone/>
            </a:pPr>
            <a:r>
              <a:rPr b="0" i="0" lang="en-US" sz="195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205 – 280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4"/>
          <p:cNvSpPr/>
          <p:nvPr/>
        </p:nvSpPr>
        <p:spPr>
          <a:xfrm>
            <a:off x="1385346" y="7118566"/>
            <a:ext cx="6944773" cy="13912"/>
          </a:xfrm>
          <a:prstGeom prst="rect">
            <a:avLst/>
          </a:prstGeom>
          <a:solidFill>
            <a:srgbClr val="EDE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4"/>
          <p:cNvSpPr/>
          <p:nvPr/>
        </p:nvSpPr>
        <p:spPr>
          <a:xfrm>
            <a:off x="1385346" y="4679809"/>
            <a:ext cx="6944773" cy="13912"/>
          </a:xfrm>
          <a:prstGeom prst="rect">
            <a:avLst/>
          </a:prstGeom>
          <a:solidFill>
            <a:srgbClr val="EDE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4"/>
          <p:cNvSpPr/>
          <p:nvPr/>
        </p:nvSpPr>
        <p:spPr>
          <a:xfrm>
            <a:off x="1385346" y="4960334"/>
            <a:ext cx="7639250" cy="337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800"/>
              <a:buFont typeface="IBM Plex Mono"/>
              <a:buNone/>
            </a:pPr>
            <a:r>
              <a:rPr b="0" i="0" lang="en-US" sz="1800" u="none" cap="none" strike="noStrike">
                <a:solidFill>
                  <a:srgbClr val="6B6478"/>
                </a:solidFill>
                <a:latin typeface="IBM Plex Mono"/>
                <a:ea typeface="IBM Plex Mono"/>
                <a:cs typeface="IBM Plex Mono"/>
                <a:sym typeface="IBM Plex Mono"/>
              </a:rPr>
              <a:t>BECAUSE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4"/>
          <p:cNvSpPr/>
          <p:nvPr/>
        </p:nvSpPr>
        <p:spPr>
          <a:xfrm>
            <a:off x="1385346" y="5411827"/>
            <a:ext cx="7639250" cy="416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534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Velocity is </a:t>
            </a:r>
            <a:r>
              <a:rPr b="0" i="0" lang="en-US" sz="1950" u="none" cap="none" strike="noStrike">
                <a:solidFill>
                  <a:srgbClr val="44404F"/>
                </a:solidFill>
                <a:latin typeface="IBM Plex Mono"/>
                <a:ea typeface="IBM Plex Mono"/>
                <a:cs typeface="IBM Plex Mono"/>
                <a:sym typeface="IBM Plex Mono"/>
              </a:rPr>
              <a:t>42/day</a:t>
            </a:r>
            <a:r>
              <a:rPr b="0" i="0" lang="en-US" sz="19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, up from </a:t>
            </a:r>
            <a:r>
              <a:rPr b="0" i="0" lang="en-US" sz="1950" u="none" cap="none" strike="noStrike">
                <a:solidFill>
                  <a:srgbClr val="44404F"/>
                </a:solidFill>
                <a:latin typeface="IBM Plex Mono"/>
                <a:ea typeface="IBM Plex Mono"/>
                <a:cs typeface="IBM Plex Mono"/>
                <a:sym typeface="IBM Plex Mono"/>
              </a:rPr>
              <a:t>31/day</a:t>
            </a:r>
            <a:r>
              <a:rPr b="0" i="0" lang="en-US" sz="19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4"/>
          <p:cNvSpPr/>
          <p:nvPr/>
        </p:nvSpPr>
        <p:spPr>
          <a:xfrm>
            <a:off x="1385346" y="5942663"/>
            <a:ext cx="7639250" cy="416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534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Stock covers </a:t>
            </a:r>
            <a:r>
              <a:rPr b="0" i="0" lang="en-US" sz="1950" u="none" cap="none" strike="noStrike">
                <a:solidFill>
                  <a:srgbClr val="44404F"/>
                </a:solidFill>
                <a:latin typeface="IBM Plex Mono"/>
                <a:ea typeface="IBM Plex Mono"/>
                <a:cs typeface="IBM Plex Mono"/>
                <a:sym typeface="IBM Plex Mono"/>
              </a:rPr>
              <a:t>3 days</a:t>
            </a:r>
            <a:r>
              <a:rPr b="0" i="0" lang="en-US" sz="19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; lead time is </a:t>
            </a:r>
            <a:r>
              <a:rPr b="0" i="0" lang="en-US" sz="1950" u="none" cap="none" strike="noStrike">
                <a:solidFill>
                  <a:srgbClr val="44404F"/>
                </a:solidFill>
                <a:latin typeface="IBM Plex Mono"/>
                <a:ea typeface="IBM Plex Mono"/>
                <a:cs typeface="IBM Plex Mono"/>
                <a:sym typeface="IBM Plex Mono"/>
              </a:rPr>
              <a:t>4 days</a:t>
            </a:r>
            <a:r>
              <a:rPr b="0" i="0" lang="en-US" sz="19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4"/>
          <p:cNvSpPr/>
          <p:nvPr/>
        </p:nvSpPr>
        <p:spPr>
          <a:xfrm>
            <a:off x="1385346" y="6473498"/>
            <a:ext cx="7639250" cy="416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534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Same week last year ran </a:t>
            </a:r>
            <a:r>
              <a:rPr b="0" i="0" lang="en-US" sz="1950" u="none" cap="none" strike="noStrike">
                <a:solidFill>
                  <a:srgbClr val="44404F"/>
                </a:solidFill>
                <a:latin typeface="IBM Plex Mono"/>
                <a:ea typeface="IBM Plex Mono"/>
                <a:cs typeface="IBM Plex Mono"/>
                <a:sym typeface="IBM Plex Mono"/>
              </a:rPr>
              <a:t>1.6× </a:t>
            </a:r>
            <a:r>
              <a:rPr b="0" i="0" lang="en-US" sz="19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normal.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4"/>
          <p:cNvSpPr/>
          <p:nvPr/>
        </p:nvSpPr>
        <p:spPr>
          <a:xfrm>
            <a:off x="1385346" y="7393983"/>
            <a:ext cx="1960527" cy="569094"/>
          </a:xfrm>
          <a:prstGeom prst="roundRect">
            <a:avLst>
              <a:gd fmla="val 20085" name="adj"/>
            </a:avLst>
          </a:prstGeom>
          <a:solidFill>
            <a:srgbClr val="5A3A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4"/>
          <p:cNvSpPr/>
          <p:nvPr/>
        </p:nvSpPr>
        <p:spPr>
          <a:xfrm>
            <a:off x="1632996" y="7546383"/>
            <a:ext cx="1541427" cy="3023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Review order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4"/>
          <p:cNvSpPr/>
          <p:nvPr/>
        </p:nvSpPr>
        <p:spPr>
          <a:xfrm>
            <a:off x="3517275" y="7380071"/>
            <a:ext cx="2195620" cy="596918"/>
          </a:xfrm>
          <a:prstGeom prst="roundRect">
            <a:avLst>
              <a:gd fmla="val 19148" name="adj"/>
            </a:avLst>
          </a:prstGeom>
          <a:noFill/>
          <a:ln cap="flat" cmpd="sng" w="13900">
            <a:solidFill>
              <a:srgbClr val="E4E1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4"/>
          <p:cNvSpPr/>
          <p:nvPr/>
        </p:nvSpPr>
        <p:spPr>
          <a:xfrm>
            <a:off x="3778837" y="7546383"/>
            <a:ext cx="1748696" cy="3023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Adjust quantity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4"/>
          <p:cNvSpPr/>
          <p:nvPr/>
        </p:nvSpPr>
        <p:spPr>
          <a:xfrm>
            <a:off x="5884297" y="7546364"/>
            <a:ext cx="977447" cy="3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950"/>
              <a:buFont typeface="Archivo"/>
              <a:buNone/>
            </a:pPr>
            <a:r>
              <a:rPr b="0" i="0" lang="en-US" sz="1950" u="none" cap="none" strike="noStrike">
                <a:solidFill>
                  <a:srgbClr val="6B6478"/>
                </a:solidFill>
                <a:latin typeface="Archivo"/>
                <a:ea typeface="Archivo"/>
                <a:cs typeface="Archivo"/>
                <a:sym typeface="Archivo"/>
              </a:rPr>
              <a:t>Dismiss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4"/>
          <p:cNvSpPr/>
          <p:nvPr/>
        </p:nvSpPr>
        <p:spPr>
          <a:xfrm>
            <a:off x="9524934" y="2443865"/>
            <a:ext cx="8591645" cy="698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The recommendation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4"/>
          <p:cNvSpPr/>
          <p:nvPr/>
        </p:nvSpPr>
        <p:spPr>
          <a:xfrm>
            <a:off x="9524934" y="3485646"/>
            <a:ext cx="8044904" cy="22471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183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400"/>
              <a:buFont typeface="Archivo"/>
              <a:buNone/>
            </a:pPr>
            <a:r>
              <a:rPr b="0" i="0" lang="en-US" sz="24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The "Because" block is the most important part of the identity in practice. A recommendation the operator cannot interrogate is an instruction, and instructions break the brand promise. Three reasons or fewer, always mono where a figure appears.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4"/>
          <p:cNvSpPr/>
          <p:nvPr/>
        </p:nvSpPr>
        <p:spPr>
          <a:xfrm>
            <a:off x="9524934" y="6075698"/>
            <a:ext cx="8044904" cy="18053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183"/>
              </a:lnSpc>
              <a:spcBef>
                <a:spcPts val="0"/>
              </a:spcBef>
              <a:spcAft>
                <a:spcPts val="0"/>
              </a:spcAft>
              <a:buClr>
                <a:srgbClr val="44404F"/>
              </a:buClr>
              <a:buSzPts val="2400"/>
              <a:buFont typeface="Archivo"/>
              <a:buNone/>
            </a:pPr>
            <a:r>
              <a:rPr b="0" i="0" lang="en-US" sz="2400" u="none" cap="none" strike="noStrike">
                <a:solidFill>
                  <a:srgbClr val="44404F"/>
                </a:solidFill>
                <a:latin typeface="Archivo"/>
                <a:ea typeface="Archivo"/>
                <a:cs typeface="Archivo"/>
                <a:sym typeface="Archivo"/>
              </a:rPr>
              <a:t>The engine never states a number without its range. The interval does more for "suggestion, not instruction" than any wording could — and nobody else in this market shows it.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1E4E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5"/>
          <p:cNvSpPr/>
          <p:nvPr/>
        </p:nvSpPr>
        <p:spPr>
          <a:xfrm>
            <a:off x="952439" y="952439"/>
            <a:ext cx="18021390" cy="698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Voice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5"/>
          <p:cNvSpPr/>
          <p:nvPr/>
        </p:nvSpPr>
        <p:spPr>
          <a:xfrm>
            <a:off x="952439" y="5041851"/>
            <a:ext cx="16383081" cy="13912"/>
          </a:xfrm>
          <a:prstGeom prst="rect">
            <a:avLst/>
          </a:prstGeom>
          <a:solidFill>
            <a:srgbClr val="3A2C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5"/>
          <p:cNvSpPr/>
          <p:nvPr/>
        </p:nvSpPr>
        <p:spPr>
          <a:xfrm>
            <a:off x="952439" y="3376849"/>
            <a:ext cx="39628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D0CA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73D0CA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5"/>
          <p:cNvSpPr/>
          <p:nvPr/>
        </p:nvSpPr>
        <p:spPr>
          <a:xfrm>
            <a:off x="1615331" y="3300658"/>
            <a:ext cx="17292208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Tense follows the claim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5"/>
          <p:cNvSpPr/>
          <p:nvPr/>
        </p:nvSpPr>
        <p:spPr>
          <a:xfrm>
            <a:off x="1615331" y="3832255"/>
            <a:ext cx="16191795" cy="8667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66"/>
              </a:lnSpc>
              <a:spcBef>
                <a:spcPts val="0"/>
              </a:spcBef>
              <a:spcAft>
                <a:spcPts val="0"/>
              </a:spcAft>
              <a:buClr>
                <a:srgbClr val="C6B6EE"/>
              </a:buClr>
              <a:buSzPts val="2250"/>
              <a:buFont typeface="Archivo"/>
              <a:buNone/>
            </a:pPr>
            <a:r>
              <a:rPr b="0" i="0" lang="en-US" sz="2250" u="none" cap="none" strike="noStrike">
                <a:solidFill>
                  <a:srgbClr val="C6B6EE"/>
                </a:solidFill>
                <a:latin typeface="Archivo"/>
                <a:ea typeface="Archivo"/>
                <a:cs typeface="Archivo"/>
                <a:sym typeface="Archivo"/>
              </a:rPr>
              <a:t>Forecasts speak future with a number; observations use present; incidents use past. "Will run out in 3 days," not "is low." A forecast without a figure cannot be judged.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5"/>
          <p:cNvSpPr/>
          <p:nvPr/>
        </p:nvSpPr>
        <p:spPr>
          <a:xfrm>
            <a:off x="952439" y="6801630"/>
            <a:ext cx="16383081" cy="13912"/>
          </a:xfrm>
          <a:prstGeom prst="rect">
            <a:avLst/>
          </a:prstGeom>
          <a:solidFill>
            <a:srgbClr val="3A2C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5"/>
          <p:cNvSpPr/>
          <p:nvPr/>
        </p:nvSpPr>
        <p:spPr>
          <a:xfrm>
            <a:off x="952439" y="5550949"/>
            <a:ext cx="39628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D0CA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73D0CA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5"/>
          <p:cNvSpPr/>
          <p:nvPr/>
        </p:nvSpPr>
        <p:spPr>
          <a:xfrm>
            <a:off x="1615331" y="5474758"/>
            <a:ext cx="13166396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Suggest, never instruct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1615331" y="6006354"/>
            <a:ext cx="13166396" cy="45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66"/>
              </a:lnSpc>
              <a:spcBef>
                <a:spcPts val="0"/>
              </a:spcBef>
              <a:spcAft>
                <a:spcPts val="0"/>
              </a:spcAft>
              <a:buClr>
                <a:srgbClr val="C6B6EE"/>
              </a:buClr>
              <a:buSzPts val="2250"/>
              <a:buFont typeface="Archivo"/>
              <a:buNone/>
            </a:pPr>
            <a:r>
              <a:rPr b="0" i="0" lang="en-US" sz="2250" u="none" cap="none" strike="noStrike">
                <a:solidFill>
                  <a:srgbClr val="C6B6EE"/>
                </a:solidFill>
                <a:latin typeface="Archivo"/>
                <a:ea typeface="Archivo"/>
                <a:cs typeface="Archivo"/>
                <a:sym typeface="Archivo"/>
              </a:rPr>
              <a:t>"Suggested reorder: 240 units," not "Reorder 240 units." The imperative belongs to the operator.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5"/>
          <p:cNvSpPr/>
          <p:nvPr/>
        </p:nvSpPr>
        <p:spPr>
          <a:xfrm>
            <a:off x="952439" y="7310728"/>
            <a:ext cx="396288" cy="385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3D0CA"/>
              </a:buClr>
              <a:buSzPts val="2100"/>
              <a:buFont typeface="IBM Plex Mono"/>
              <a:buNone/>
            </a:pPr>
            <a:r>
              <a:rPr b="0" i="0" lang="en-US" sz="2100" u="none" cap="none" strike="noStrike">
                <a:solidFill>
                  <a:srgbClr val="73D0CA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5"/>
          <p:cNvSpPr/>
          <p:nvPr/>
        </p:nvSpPr>
        <p:spPr>
          <a:xfrm>
            <a:off x="1615331" y="7234537"/>
            <a:ext cx="14761056" cy="4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Admit the range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5"/>
          <p:cNvSpPr/>
          <p:nvPr/>
        </p:nvSpPr>
        <p:spPr>
          <a:xfrm>
            <a:off x="1615331" y="7766133"/>
            <a:ext cx="14761056" cy="45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66"/>
              </a:lnSpc>
              <a:spcBef>
                <a:spcPts val="0"/>
              </a:spcBef>
              <a:spcAft>
                <a:spcPts val="0"/>
              </a:spcAft>
              <a:buClr>
                <a:srgbClr val="C6B6EE"/>
              </a:buClr>
              <a:buSzPts val="2250"/>
              <a:buFont typeface="Archivo"/>
              <a:buNone/>
            </a:pPr>
            <a:r>
              <a:rPr b="0" i="0" lang="en-US" sz="2250" u="none" cap="none" strike="noStrike">
                <a:solidFill>
                  <a:srgbClr val="C6B6EE"/>
                </a:solidFill>
                <a:latin typeface="Archivo"/>
                <a:ea typeface="Archivo"/>
                <a:cs typeface="Archivo"/>
                <a:sym typeface="Archivo"/>
              </a:rPr>
              <a:t>Show the interval, and say when confidence is low. An engine that is never uncertain is never believed twice.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AFC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6"/>
          <p:cNvSpPr/>
          <p:nvPr/>
        </p:nvSpPr>
        <p:spPr>
          <a:xfrm>
            <a:off x="952439" y="857228"/>
            <a:ext cx="18021390" cy="698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4800"/>
              <a:buFont typeface="Archivo"/>
              <a:buNone/>
            </a:pPr>
            <a:r>
              <a:rPr b="1" i="0" lang="en-US" sz="480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What to lock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6"/>
          <p:cNvSpPr/>
          <p:nvPr/>
        </p:nvSpPr>
        <p:spPr>
          <a:xfrm>
            <a:off x="952439" y="2717869"/>
            <a:ext cx="16383081" cy="13912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6"/>
          <p:cNvSpPr/>
          <p:nvPr/>
        </p:nvSpPr>
        <p:spPr>
          <a:xfrm>
            <a:off x="952439" y="2150188"/>
            <a:ext cx="933428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F5B"/>
              </a:buClr>
              <a:buSzPts val="1950"/>
              <a:buFont typeface="IBM Plex Mono"/>
              <a:buNone/>
            </a:pPr>
            <a:r>
              <a:rPr b="0" i="0" lang="en-US" sz="1950" u="none" cap="none" strike="noStrike">
                <a:solidFill>
                  <a:srgbClr val="0A5F5B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6"/>
          <p:cNvSpPr/>
          <p:nvPr/>
        </p:nvSpPr>
        <p:spPr>
          <a:xfrm>
            <a:off x="2114430" y="2108452"/>
            <a:ext cx="16743200" cy="43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802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250"/>
              <a:buFont typeface="Archivo"/>
              <a:buNone/>
            </a:pPr>
            <a:r>
              <a:rPr b="1" i="0" lang="en-US" sz="22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The name. </a:t>
            </a:r>
            <a:r>
              <a:rPr b="0" i="0" lang="en-US" sz="22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Waymark Almanac, short form Almanac.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6"/>
          <p:cNvSpPr/>
          <p:nvPr/>
        </p:nvSpPr>
        <p:spPr>
          <a:xfrm>
            <a:off x="952439" y="3550642"/>
            <a:ext cx="16383081" cy="13912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6"/>
          <p:cNvSpPr/>
          <p:nvPr/>
        </p:nvSpPr>
        <p:spPr>
          <a:xfrm>
            <a:off x="952439" y="2982961"/>
            <a:ext cx="933428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F5B"/>
              </a:buClr>
              <a:buSzPts val="1950"/>
              <a:buFont typeface="IBM Plex Mono"/>
              <a:buNone/>
            </a:pPr>
            <a:r>
              <a:rPr b="0" i="0" lang="en-US" sz="1950" u="none" cap="none" strike="noStrike">
                <a:solidFill>
                  <a:srgbClr val="0A5F5B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6"/>
          <p:cNvSpPr/>
          <p:nvPr/>
        </p:nvSpPr>
        <p:spPr>
          <a:xfrm>
            <a:off x="2114430" y="2941225"/>
            <a:ext cx="16743200" cy="43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802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250"/>
              <a:buFont typeface="Archivo"/>
              <a:buNone/>
            </a:pPr>
            <a:r>
              <a:rPr b="1" i="0" lang="en-US" sz="22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The scope. </a:t>
            </a:r>
            <a:r>
              <a:rPr b="0" i="0" lang="en-US" sz="22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The whole analytical layer, not the forecaster alone.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6"/>
          <p:cNvSpPr/>
          <p:nvPr/>
        </p:nvSpPr>
        <p:spPr>
          <a:xfrm>
            <a:off x="952439" y="4383415"/>
            <a:ext cx="16383081" cy="13912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6"/>
          <p:cNvSpPr/>
          <p:nvPr/>
        </p:nvSpPr>
        <p:spPr>
          <a:xfrm>
            <a:off x="952439" y="3815734"/>
            <a:ext cx="933428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F5B"/>
              </a:buClr>
              <a:buSzPts val="1950"/>
              <a:buFont typeface="IBM Plex Mono"/>
              <a:buNone/>
            </a:pPr>
            <a:r>
              <a:rPr b="0" i="0" lang="en-US" sz="1950" u="none" cap="none" strike="noStrike">
                <a:solidFill>
                  <a:srgbClr val="0A5F5B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6"/>
          <p:cNvSpPr/>
          <p:nvPr/>
        </p:nvSpPr>
        <p:spPr>
          <a:xfrm>
            <a:off x="2114430" y="3773998"/>
            <a:ext cx="16743200" cy="43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802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250"/>
              <a:buFont typeface="Archivo"/>
              <a:buNone/>
            </a:pPr>
            <a:r>
              <a:rPr b="1" i="0" lang="en-US" sz="22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The descriptor. </a:t>
            </a:r>
            <a:r>
              <a:rPr b="0" i="0" lang="en-US" sz="22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Forecasting &amp; ordering engine, on first appearance.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6"/>
          <p:cNvSpPr/>
          <p:nvPr/>
        </p:nvSpPr>
        <p:spPr>
          <a:xfrm>
            <a:off x="952439" y="5216188"/>
            <a:ext cx="16383081" cy="13912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6"/>
          <p:cNvSpPr/>
          <p:nvPr/>
        </p:nvSpPr>
        <p:spPr>
          <a:xfrm>
            <a:off x="952439" y="4648507"/>
            <a:ext cx="933428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F5B"/>
              </a:buClr>
              <a:buSzPts val="1950"/>
              <a:buFont typeface="IBM Plex Mono"/>
              <a:buNone/>
            </a:pPr>
            <a:r>
              <a:rPr b="0" i="0" lang="en-US" sz="1950" u="none" cap="none" strike="noStrike">
                <a:solidFill>
                  <a:srgbClr val="0A5F5B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6"/>
          <p:cNvSpPr/>
          <p:nvPr/>
        </p:nvSpPr>
        <p:spPr>
          <a:xfrm>
            <a:off x="2114430" y="4606770"/>
            <a:ext cx="16743200" cy="43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802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250"/>
              <a:buFont typeface="Archivo"/>
              <a:buNone/>
            </a:pPr>
            <a:r>
              <a:rPr b="1" i="0" lang="en-US" sz="22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The register split. </a:t>
            </a:r>
            <a:r>
              <a:rPr b="0" i="0" lang="en-US" sz="22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Archivo is Waymark, Plex Mono is Almanac.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6"/>
          <p:cNvSpPr/>
          <p:nvPr/>
        </p:nvSpPr>
        <p:spPr>
          <a:xfrm>
            <a:off x="952439" y="6048961"/>
            <a:ext cx="16383081" cy="13912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6"/>
          <p:cNvSpPr/>
          <p:nvPr/>
        </p:nvSpPr>
        <p:spPr>
          <a:xfrm>
            <a:off x="952439" y="5481279"/>
            <a:ext cx="933428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F5B"/>
              </a:buClr>
              <a:buSzPts val="1950"/>
              <a:buFont typeface="IBM Plex Mono"/>
              <a:buNone/>
            </a:pPr>
            <a:r>
              <a:rPr b="0" i="0" lang="en-US" sz="1950" u="none" cap="none" strike="noStrike">
                <a:solidFill>
                  <a:srgbClr val="0A5F5B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6"/>
          <p:cNvSpPr/>
          <p:nvPr/>
        </p:nvSpPr>
        <p:spPr>
          <a:xfrm>
            <a:off x="2114430" y="5439543"/>
            <a:ext cx="16743200" cy="43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802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250"/>
              <a:buFont typeface="Archivo"/>
              <a:buNone/>
            </a:pPr>
            <a:r>
              <a:rPr b="1" i="0" lang="en-US" sz="22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The visibility line. </a:t>
            </a:r>
            <a:r>
              <a:rPr b="0" i="0" lang="en-US" sz="22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In-app, insight surfaces and consent screens only.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6"/>
          <p:cNvSpPr/>
          <p:nvPr/>
        </p:nvSpPr>
        <p:spPr>
          <a:xfrm>
            <a:off x="952439" y="6881734"/>
            <a:ext cx="16383081" cy="13912"/>
          </a:xfrm>
          <a:prstGeom prst="rect">
            <a:avLst/>
          </a:prstGeom>
          <a:solidFill>
            <a:srgbClr val="E4E1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6"/>
          <p:cNvSpPr/>
          <p:nvPr/>
        </p:nvSpPr>
        <p:spPr>
          <a:xfrm>
            <a:off x="952439" y="6314052"/>
            <a:ext cx="933428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F5B"/>
              </a:buClr>
              <a:buSzPts val="1950"/>
              <a:buFont typeface="IBM Plex Mono"/>
              <a:buNone/>
            </a:pPr>
            <a:r>
              <a:rPr b="0" i="0" lang="en-US" sz="1950" u="none" cap="none" strike="noStrike">
                <a:solidFill>
                  <a:srgbClr val="0A5F5B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6"/>
          <p:cNvSpPr/>
          <p:nvPr/>
        </p:nvSpPr>
        <p:spPr>
          <a:xfrm>
            <a:off x="2114430" y="6272316"/>
            <a:ext cx="16743200" cy="43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802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250"/>
              <a:buFont typeface="Archivo"/>
              <a:buNone/>
            </a:pPr>
            <a:r>
              <a:rPr b="1" i="0" lang="en-US" sz="22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Two semantic colours. </a:t>
            </a:r>
            <a:r>
              <a:rPr b="0" i="0" lang="en-US" sz="22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Critical and warning. No positive — violet already confirms.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6"/>
          <p:cNvSpPr/>
          <p:nvPr/>
        </p:nvSpPr>
        <p:spPr>
          <a:xfrm>
            <a:off x="952439" y="7146825"/>
            <a:ext cx="933428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F5B"/>
              </a:buClr>
              <a:buSzPts val="1950"/>
              <a:buFont typeface="IBM Plex Mono"/>
              <a:buNone/>
            </a:pPr>
            <a:r>
              <a:rPr b="0" i="0" lang="en-US" sz="1950" u="none" cap="none" strike="noStrike">
                <a:solidFill>
                  <a:srgbClr val="0A5F5B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6"/>
          <p:cNvSpPr/>
          <p:nvPr/>
        </p:nvSpPr>
        <p:spPr>
          <a:xfrm>
            <a:off x="2114430" y="7105088"/>
            <a:ext cx="16743200" cy="4380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802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250"/>
              <a:buFont typeface="Archivo"/>
              <a:buNone/>
            </a:pPr>
            <a:r>
              <a:rPr b="1" i="0" lang="en-US" sz="22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Label before colour. </a:t>
            </a:r>
            <a:r>
              <a:rPr b="0" i="0" lang="en-US" sz="2250" u="none" cap="none" strike="noStrike">
                <a:solidFill>
                  <a:srgbClr val="14101F"/>
                </a:solidFill>
                <a:latin typeface="Archivo"/>
                <a:ea typeface="Archivo"/>
                <a:cs typeface="Archivo"/>
                <a:sym typeface="Archivo"/>
              </a:rPr>
              <a:t>A card with an edge and no label is not a valid state.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6"/>
          <p:cNvSpPr/>
          <p:nvPr/>
        </p:nvSpPr>
        <p:spPr>
          <a:xfrm>
            <a:off x="952439" y="8601080"/>
            <a:ext cx="13734954" cy="8667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366"/>
              </a:lnSpc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2250"/>
              <a:buFont typeface="Archivo"/>
              <a:buNone/>
            </a:pPr>
            <a:r>
              <a:rPr b="0" i="0" lang="en-US" sz="2250" u="none" cap="none" strike="noStrike">
                <a:solidFill>
                  <a:srgbClr val="6B6478"/>
                </a:solidFill>
                <a:latin typeface="Archivo"/>
                <a:ea typeface="Archivo"/>
                <a:cs typeface="Archivo"/>
                <a:sym typeface="Archivo"/>
              </a:rPr>
              <a:t>Seven lines. Anything beyond them is a second brand to maintain, and there are not hours for it before implementation starts.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